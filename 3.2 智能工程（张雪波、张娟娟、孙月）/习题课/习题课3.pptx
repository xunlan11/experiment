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sldIdLst>
    <p:sldId id="464" r:id="rId4"/>
    <p:sldId id="8134" r:id="rId6"/>
    <p:sldId id="8135" r:id="rId7"/>
    <p:sldId id="814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168" y="33"/>
      </p:cViewPr>
      <p:guideLst>
        <p:guide orient="horz" pos="219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8129B-1F2D-4497-888B-0FD5D037D2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4E987-7990-4382-85F6-C58A3C7D76D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400">
              <a:defRPr/>
            </a:pPr>
            <a:fld id="{AA010BBB-6439-4E86-954B-826F3FA2D366}" type="slidenum">
              <a:rPr lang="zh-CN" altLang="en-US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</a:fld>
            <a:endParaRPr lang="zh-CN" altLang="en-US">
              <a:solidFill>
                <a:prstClr val="black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altLang="zh-CN" sz="16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744F346-9435-41B1-AD1D-461963F20B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6"/>
          <p:cNvSpPr>
            <a:spLocks noChangeArrowheads="1"/>
          </p:cNvSpPr>
          <p:nvPr userDrawn="1"/>
        </p:nvSpPr>
        <p:spPr bwMode="auto">
          <a:xfrm>
            <a:off x="-1" y="0"/>
            <a:ext cx="12193200" cy="3356992"/>
          </a:xfrm>
          <a:prstGeom prst="roundRect">
            <a:avLst>
              <a:gd name="adj" fmla="val 32"/>
            </a:avLst>
          </a:prstGeom>
          <a:solidFill>
            <a:srgbClr val="7E0C6E"/>
          </a:solidFill>
          <a:ln w="9525">
            <a:noFill/>
            <a:round/>
          </a:ln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dirty="0">
              <a:solidFill>
                <a:srgbClr val="FFFFFF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1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45127" y="1828801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8801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45127" y="1681851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45127" y="2507551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851"/>
            <a:ext cx="5181601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7551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>
            <a:off x="480054" y="260648"/>
            <a:ext cx="480053" cy="480053"/>
          </a:xfrm>
          <a:prstGeom prst="rect">
            <a:avLst/>
          </a:prstGeom>
          <a:noFill/>
          <a:ln w="9525">
            <a:solidFill>
              <a:srgbClr val="923E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7" name="矩形 6"/>
          <p:cNvSpPr/>
          <p:nvPr userDrawn="1"/>
        </p:nvSpPr>
        <p:spPr>
          <a:xfrm>
            <a:off x="713587" y="456691"/>
            <a:ext cx="387019" cy="38701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gradFill>
                <a:gsLst>
                  <a:gs pos="0">
                    <a:srgbClr val="66CCFF"/>
                  </a:gs>
                  <a:gs pos="52000">
                    <a:schemeClr val="bg1"/>
                  </a:gs>
                  <a:gs pos="100000">
                    <a:srgbClr val="0070C0"/>
                  </a:gs>
                </a:gsLst>
                <a:lin ang="0" scaled="1"/>
              </a:gradFill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1196616" y="811379"/>
            <a:ext cx="10995384" cy="0"/>
          </a:xfrm>
          <a:prstGeom prst="line">
            <a:avLst/>
          </a:prstGeom>
          <a:ln w="15875">
            <a:solidFill>
              <a:srgbClr val="923E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1"/>
          <p:cNvSpPr>
            <a:spLocks noChangeArrowheads="1"/>
          </p:cNvSpPr>
          <p:nvPr userDrawn="1"/>
        </p:nvSpPr>
        <p:spPr bwMode="auto">
          <a:xfrm>
            <a:off x="0" y="6638978"/>
            <a:ext cx="12192000" cy="23172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lIns="91428" tIns="45713" rIns="91428" bIns="45713" anchor="ctr"/>
          <a:lstStyle/>
          <a:p>
            <a:pPr algn="ctr" eaLnBrk="1" hangingPunct="1"/>
            <a:endParaRPr lang="zh-CN" altLang="en-US" sz="320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4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1415" y="109848"/>
            <a:ext cx="1781236" cy="630853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1" y="360363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16"/>
          <p:cNvSpPr>
            <a:spLocks noChangeArrowheads="1"/>
          </p:cNvSpPr>
          <p:nvPr userDrawn="1"/>
        </p:nvSpPr>
        <p:spPr bwMode="auto">
          <a:xfrm>
            <a:off x="-1" y="0"/>
            <a:ext cx="12193200" cy="3356992"/>
          </a:xfrm>
          <a:prstGeom prst="roundRect">
            <a:avLst>
              <a:gd name="adj" fmla="val 32"/>
            </a:avLst>
          </a:prstGeom>
          <a:solidFill>
            <a:srgbClr val="7E0C6E"/>
          </a:solidFill>
          <a:ln w="9525">
            <a:noFill/>
            <a:round/>
          </a:ln>
        </p:spPr>
        <p:txBody>
          <a:bodyPr wrap="none" anchor="ctr"/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dirty="0">
              <a:solidFill>
                <a:srgbClr val="FFFFFF"/>
              </a:solidFill>
              <a:latin typeface="Arial" panose="020B0604020202020204" pitchFamily="34" charset="0"/>
              <a:ea typeface="MS PGothic" panose="020B0600070205080204" charset="-128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1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>
    <mc:Choice xmlns:p14="http://schemas.microsoft.com/office/powerpoint/2010/main" Requires="p14">
      <p:transition p14:dur="10" advTm="19000"/>
    </mc:Choice>
    <mc:Fallback>
      <p:transition advTm="19000"/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anose="05020102010507070707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9.xml"/><Relationship Id="rId7" Type="http://schemas.openxmlformats.org/officeDocument/2006/relationships/image" Target="../media/image17.png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9.xml"/><Relationship Id="rId7" Type="http://schemas.openxmlformats.org/officeDocument/2006/relationships/image" Target="../media/image22.png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9" descr="bei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2" y="3356992"/>
            <a:ext cx="5228591" cy="3501008"/>
          </a:xfrm>
          <a:prstGeom prst="rect">
            <a:avLst/>
          </a:prstGeom>
          <a:noFill/>
          <a:ln>
            <a:noFill/>
          </a:ln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文本框 9"/>
          <p:cNvSpPr txBox="1"/>
          <p:nvPr/>
        </p:nvSpPr>
        <p:spPr>
          <a:xfrm>
            <a:off x="0" y="3692902"/>
            <a:ext cx="12188688" cy="2008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  </a:t>
            </a:r>
            <a:endParaRPr kumimoji="0" lang="en-US" altLang="zh-CN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南开大学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机器人与信息自动化研究所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360000" y="1473124"/>
          <a:ext cx="11336700" cy="118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36700"/>
              </a:tblGrid>
              <a:tr h="11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5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习题课（第</a:t>
                      </a:r>
                      <a:r>
                        <a:rPr lang="en-US" altLang="zh-CN" sz="5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3</a:t>
                      </a:r>
                      <a:r>
                        <a:rPr lang="zh-CN" altLang="en-US" sz="5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+mn-ea"/>
                        </a:rPr>
                        <a:t>次作业）</a:t>
                      </a:r>
                      <a:endParaRPr lang="zh-CN" altLang="en-US" sz="54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8580" marR="68580" anchor="ctr"/>
                </a:tc>
              </a:tr>
            </a:tbl>
          </a:graphicData>
        </a:graphic>
      </p:graphicFrame>
      <p:pic>
        <p:nvPicPr>
          <p:cNvPr id="8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9" t="7873" r="5016" b="8956"/>
          <a:stretch>
            <a:fillRect/>
          </a:stretch>
        </p:blipFill>
        <p:spPr>
          <a:xfrm>
            <a:off x="360000" y="215998"/>
            <a:ext cx="2783672" cy="991993"/>
          </a:xfrm>
          <a:prstGeom prst="rect">
            <a:avLst/>
          </a:prstGeom>
        </p:spPr>
      </p:pic>
      <p:pic>
        <p:nvPicPr>
          <p:cNvPr id="11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5715918"/>
            <a:ext cx="3643505" cy="667736"/>
          </a:xfrm>
          <a:prstGeom prst="rect">
            <a:avLst/>
          </a:prstGeom>
        </p:spPr>
      </p:pic>
      <p:sp>
        <p:nvSpPr>
          <p:cNvPr id="12" name="Text Box 26"/>
          <p:cNvSpPr txBox="1">
            <a:spLocks noChangeArrowheads="1"/>
          </p:cNvSpPr>
          <p:nvPr/>
        </p:nvSpPr>
        <p:spPr bwMode="auto">
          <a:xfrm>
            <a:off x="6982474" y="5689852"/>
            <a:ext cx="4105275" cy="76944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机器人与信息自动化研究所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Institute of Robotics &amp; Automatic Information System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天津市智能机器人技术重点实验室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A886E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 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rPr>
              <a:t>Tianjin  Key  Laboratory  of  Intelligent  Robotics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华文细黑" panose="02010600040101010101" pitchFamily="2" charset="-122"/>
              <a:ea typeface="华文细黑" panose="02010600040101010101" pitchFamily="2" charset="-122"/>
              <a:cs typeface="+mn-cs"/>
            </a:endParaRPr>
          </a:p>
        </p:txBody>
      </p:sp>
      <p:pic>
        <p:nvPicPr>
          <p:cNvPr id="13" name="Picture 2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4" y="5699058"/>
            <a:ext cx="529954" cy="701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64365" y="2322418"/>
          <a:ext cx="11336700" cy="7694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36700"/>
              </a:tblGrid>
              <a:tr h="76944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68580" marR="68580"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465" y="923290"/>
            <a:ext cx="4463415" cy="1778635"/>
          </a:xfrm>
          <a:prstGeom prst="rect">
            <a:avLst/>
          </a:prstGeom>
        </p:spPr>
      </p:pic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里程计模型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8323" r="50000"/>
          <a:stretch>
            <a:fillRect/>
          </a:stretch>
        </p:blipFill>
        <p:spPr>
          <a:xfrm>
            <a:off x="7331075" y="875665"/>
            <a:ext cx="4266565" cy="15811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rcRect l="49745" t="8323"/>
          <a:stretch>
            <a:fillRect/>
          </a:stretch>
        </p:blipFill>
        <p:spPr>
          <a:xfrm>
            <a:off x="7331710" y="2949575"/>
            <a:ext cx="4265930" cy="15728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980" y="4753610"/>
            <a:ext cx="4265295" cy="1575435"/>
          </a:xfrm>
          <a:prstGeom prst="rect">
            <a:avLst/>
          </a:prstGeom>
        </p:spPr>
      </p:pic>
      <p:sp>
        <p:nvSpPr>
          <p:cNvPr id="12" name="下箭头 11"/>
          <p:cNvSpPr/>
          <p:nvPr/>
        </p:nvSpPr>
        <p:spPr>
          <a:xfrm>
            <a:off x="9335135" y="2456815"/>
            <a:ext cx="485775" cy="56642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放大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081020" y="1057275"/>
            <a:ext cx="288925" cy="24447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841875" y="1120140"/>
            <a:ext cx="18656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第一次作业求的是</a:t>
            </a:r>
            <a:r>
              <a:rPr lang="en-US" altLang="zh-CN" sz="2000" b="1"/>
              <a:t>β</a:t>
            </a:r>
            <a:r>
              <a:rPr lang="zh-CN" altLang="en-US" sz="2000" b="1"/>
              <a:t>表达的，这里用的</a:t>
            </a:r>
            <a:r>
              <a:rPr lang="en-US" altLang="zh-CN" sz="2000" b="1"/>
              <a:t>α</a:t>
            </a:r>
            <a:r>
              <a:rPr lang="zh-CN" altLang="en-US" sz="2000" b="1"/>
              <a:t>，二者互余。</a:t>
            </a:r>
            <a:endParaRPr lang="zh-CN" altLang="en-US" sz="2000" b="1"/>
          </a:p>
        </p:txBody>
      </p:sp>
      <p:cxnSp>
        <p:nvCxnSpPr>
          <p:cNvPr id="15" name="直接箭头连接符 14"/>
          <p:cNvCxnSpPr>
            <a:stCxn id="14" idx="1"/>
            <a:endCxn id="13" idx="3"/>
          </p:cNvCxnSpPr>
          <p:nvPr/>
        </p:nvCxnSpPr>
        <p:spPr>
          <a:xfrm flipH="1" flipV="1">
            <a:off x="3369945" y="1179830"/>
            <a:ext cx="1471930" cy="60134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 descr="图片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65" y="2691130"/>
            <a:ext cx="5777230" cy="999490"/>
          </a:xfrm>
          <a:prstGeom prst="rect">
            <a:avLst/>
          </a:prstGeom>
        </p:spPr>
      </p:pic>
      <p:pic>
        <p:nvPicPr>
          <p:cNvPr id="16" name="图片 15" descr="图片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465" y="3690620"/>
            <a:ext cx="6214110" cy="2734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4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8485" y="2788285"/>
            <a:ext cx="3293110" cy="1524635"/>
          </a:xfrm>
          <a:prstGeom prst="rect">
            <a:avLst/>
          </a:prstGeom>
        </p:spPr>
      </p:pic>
      <p:pic>
        <p:nvPicPr>
          <p:cNvPr id="14" name="图片 13" descr="图片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625" y="1623695"/>
            <a:ext cx="4632960" cy="558800"/>
          </a:xfrm>
          <a:prstGeom prst="rect">
            <a:avLst/>
          </a:prstGeom>
        </p:spPr>
      </p:pic>
      <p:pic>
        <p:nvPicPr>
          <p:cNvPr id="9" name="图片 8" descr="图片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895" y="1248410"/>
            <a:ext cx="4389755" cy="1240155"/>
          </a:xfrm>
          <a:prstGeom prst="rect">
            <a:avLst/>
          </a:prstGeom>
        </p:spPr>
      </p:pic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误差传导模型（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RK2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5470" y="971550"/>
            <a:ext cx="2451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位姿更新公式</a:t>
            </a:r>
            <a:endParaRPr lang="zh-CN" altLang="en-US" sz="2000" b="1"/>
          </a:p>
        </p:txBody>
      </p:sp>
      <p:sp>
        <p:nvSpPr>
          <p:cNvPr id="8" name="文本框 7"/>
          <p:cNvSpPr txBox="1"/>
          <p:nvPr/>
        </p:nvSpPr>
        <p:spPr>
          <a:xfrm>
            <a:off x="7385050" y="1007110"/>
            <a:ext cx="2451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误差传递公式</a:t>
            </a:r>
            <a:endParaRPr lang="zh-CN" altLang="en-US" sz="2000" b="1"/>
          </a:p>
        </p:txBody>
      </p:sp>
      <p:sp>
        <p:nvSpPr>
          <p:cNvPr id="13" name="右箭头 12"/>
          <p:cNvSpPr/>
          <p:nvPr/>
        </p:nvSpPr>
        <p:spPr>
          <a:xfrm>
            <a:off x="1955800" y="1704975"/>
            <a:ext cx="887095" cy="4889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增量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893445" y="4205605"/>
                <a:ext cx="2987675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b="1"/>
                  <a:t>位姿：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𝜃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7030A0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sz="2400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也含是</a:t>
                </a:r>
                <a:r>
                  <a:rPr lang="en-US" altLang="zh-CN" sz="2400">
                    <a:solidFill>
                      <a:srgbClr val="7030A0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θ</a:t>
                </a:r>
                <a:endParaRPr lang="en-US" altLang="zh-CN" sz="2400" b="1">
                  <a:solidFill>
                    <a:srgbClr val="7030A0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445" y="4205605"/>
                <a:ext cx="2987675" cy="46037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8836660" y="1674495"/>
            <a:ext cx="400050" cy="45974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858125" y="3060700"/>
            <a:ext cx="2829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迭代更新量，零初始化</a:t>
            </a:r>
            <a:endParaRPr lang="zh-CN" altLang="en-US" sz="200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9036685" y="2166620"/>
            <a:ext cx="0" cy="82232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659755" y="1375410"/>
            <a:ext cx="252095" cy="85407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6223000" y="2184400"/>
            <a:ext cx="355600" cy="44450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/>
        </p:nvSpPr>
        <p:spPr>
          <a:xfrm>
            <a:off x="3402965" y="2988945"/>
            <a:ext cx="985520" cy="48895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增量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 flipH="1">
            <a:off x="5777230" y="2238375"/>
            <a:ext cx="3175" cy="54102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5902960" y="2628900"/>
            <a:ext cx="497840" cy="2317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182880" y="1449705"/>
            <a:ext cx="1732915" cy="999490"/>
            <a:chOff x="9012" y="6631"/>
            <a:chExt cx="2729" cy="1574"/>
          </a:xfrm>
        </p:grpSpPr>
        <p:pic>
          <p:nvPicPr>
            <p:cNvPr id="2" name="图片 1" descr="图片36"/>
            <p:cNvPicPr>
              <a:picLocks noChangeAspect="1"/>
            </p:cNvPicPr>
            <p:nvPr/>
          </p:nvPicPr>
          <p:blipFill>
            <a:blip r:embed="rId5"/>
            <a:srcRect r="85184"/>
            <a:stretch>
              <a:fillRect/>
            </a:stretch>
          </p:blipFill>
          <p:spPr>
            <a:xfrm>
              <a:off x="9012" y="6631"/>
              <a:ext cx="1348" cy="1574"/>
            </a:xfrm>
            <a:prstGeom prst="rect">
              <a:avLst/>
            </a:prstGeom>
          </p:spPr>
        </p:pic>
        <p:pic>
          <p:nvPicPr>
            <p:cNvPr id="3" name="图片 2" descr="图片36"/>
            <p:cNvPicPr>
              <a:picLocks noChangeAspect="1"/>
            </p:cNvPicPr>
            <p:nvPr/>
          </p:nvPicPr>
          <p:blipFill>
            <a:blip r:embed="rId5"/>
            <a:srcRect l="81523" r="2099"/>
            <a:stretch>
              <a:fillRect/>
            </a:stretch>
          </p:blipFill>
          <p:spPr>
            <a:xfrm>
              <a:off x="10251" y="6631"/>
              <a:ext cx="1490" cy="1574"/>
            </a:xfrm>
            <a:prstGeom prst="rect">
              <a:avLst/>
            </a:prstGeom>
          </p:spPr>
        </p:pic>
      </p:grpSp>
      <p:pic>
        <p:nvPicPr>
          <p:cNvPr id="15" name="图片 14" descr="图片35"/>
          <p:cNvPicPr>
            <a:picLocks noChangeAspect="1"/>
          </p:cNvPicPr>
          <p:nvPr/>
        </p:nvPicPr>
        <p:blipFill>
          <a:blip r:embed="rId6"/>
          <a:srcRect l="24641" r="24257" b="54266"/>
          <a:stretch>
            <a:fillRect/>
          </a:stretch>
        </p:blipFill>
        <p:spPr>
          <a:xfrm>
            <a:off x="969645" y="2899410"/>
            <a:ext cx="2280920" cy="813435"/>
          </a:xfrm>
          <a:prstGeom prst="rect">
            <a:avLst/>
          </a:prstGeom>
        </p:spPr>
      </p:pic>
      <p:pic>
        <p:nvPicPr>
          <p:cNvPr id="20" name="图片 19" descr="图片48"/>
          <p:cNvPicPr>
            <a:picLocks noChangeAspect="1"/>
          </p:cNvPicPr>
          <p:nvPr/>
        </p:nvPicPr>
        <p:blipFill>
          <a:blip r:embed="rId7"/>
          <a:srcRect t="4810"/>
          <a:stretch>
            <a:fillRect/>
          </a:stretch>
        </p:blipFill>
        <p:spPr>
          <a:xfrm>
            <a:off x="584835" y="4627245"/>
            <a:ext cx="7693025" cy="1920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图片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70" y="5047615"/>
            <a:ext cx="6828155" cy="1376680"/>
          </a:xfrm>
          <a:prstGeom prst="rect">
            <a:avLst/>
          </a:prstGeom>
        </p:spPr>
      </p:pic>
      <p:pic>
        <p:nvPicPr>
          <p:cNvPr id="26" name="图片 25" descr="图片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70" y="3627755"/>
            <a:ext cx="6022340" cy="1308735"/>
          </a:xfrm>
          <a:prstGeom prst="rect">
            <a:avLst/>
          </a:prstGeom>
        </p:spPr>
      </p:pic>
      <p:pic>
        <p:nvPicPr>
          <p:cNvPr id="25" name="图片 24" descr="图片50"/>
          <p:cNvPicPr>
            <a:picLocks noChangeAspect="1"/>
          </p:cNvPicPr>
          <p:nvPr/>
        </p:nvPicPr>
        <p:blipFill>
          <a:blip r:embed="rId3"/>
          <a:srcRect l="6534" t="21352" b="15635"/>
          <a:stretch>
            <a:fillRect/>
          </a:stretch>
        </p:blipFill>
        <p:spPr>
          <a:xfrm>
            <a:off x="585470" y="2841625"/>
            <a:ext cx="3035935" cy="675005"/>
          </a:xfrm>
          <a:prstGeom prst="rect">
            <a:avLst/>
          </a:prstGeom>
        </p:spPr>
      </p:pic>
      <p:pic>
        <p:nvPicPr>
          <p:cNvPr id="13" name="图片 12" descr="图片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9420" y="1159510"/>
            <a:ext cx="4380865" cy="1399540"/>
          </a:xfrm>
          <a:prstGeom prst="rect">
            <a:avLst/>
          </a:prstGeom>
        </p:spPr>
      </p:pic>
      <p:pic>
        <p:nvPicPr>
          <p:cNvPr id="12" name="图片 11" descr="图片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625" y="1623695"/>
            <a:ext cx="4632960" cy="558800"/>
          </a:xfrm>
          <a:prstGeom prst="rect">
            <a:avLst/>
          </a:prstGeom>
        </p:spPr>
      </p:pic>
      <p:sp>
        <p:nvSpPr>
          <p:cNvPr id="10" name="TextBox 13"/>
          <p:cNvSpPr txBox="1"/>
          <p:nvPr/>
        </p:nvSpPr>
        <p:spPr>
          <a:xfrm>
            <a:off x="0" y="164638"/>
            <a:ext cx="12192000" cy="58356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">
              <a:contourClr>
                <a:schemeClr val="bg1"/>
              </a:contourClr>
            </a:sp3d>
          </a:bodyPr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第三次作业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误差传导模型（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RK2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solidFill>
                    <a:srgbClr val="C00000"/>
                  </a:solidFill>
                </a:ln>
                <a:gradFill flip="none" rotWithShape="1">
                  <a:gsLst>
                    <a:gs pos="0">
                      <a:srgbClr val="4F81BD">
                        <a:lumMod val="5000"/>
                        <a:lumOff val="95000"/>
                      </a:srgbClr>
                    </a:gs>
                    <a:gs pos="100000">
                      <a:srgbClr val="FF0000"/>
                    </a:gs>
                  </a:gsLst>
                  <a:lin ang="5400000" scaled="1"/>
                  <a:tileRect/>
                </a:gradFill>
                <a:effectLst>
                  <a:glow rad="63500">
                    <a:srgbClr val="4F81BD">
                      <a:satMod val="175000"/>
                      <a:alpha val="40000"/>
                    </a:srgb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zh-CN" altLang="en-US" sz="3200" b="1" i="0" u="none" strike="noStrike" kern="1200" cap="none" spc="0" normalizeH="0" baseline="0" noProof="0" dirty="0">
              <a:ln>
                <a:solidFill>
                  <a:srgbClr val="C00000"/>
                </a:solidFill>
              </a:ln>
              <a:gradFill flip="none" rotWithShape="1">
                <a:gsLst>
                  <a:gs pos="0">
                    <a:srgbClr val="4F81BD">
                      <a:lumMod val="5000"/>
                      <a:lumOff val="95000"/>
                    </a:srgbClr>
                  </a:gs>
                  <a:gs pos="100000">
                    <a:srgbClr val="FF0000"/>
                  </a:gs>
                </a:gsLst>
                <a:lin ang="5400000" scaled="1"/>
                <a:tileRect/>
              </a:gradFill>
              <a:effectLst>
                <a:glow rad="63500">
                  <a:srgbClr val="4F81BD">
                    <a:satMod val="175000"/>
                    <a:alpha val="40000"/>
                  </a:srgb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820907" y="6560487"/>
            <a:ext cx="2743200" cy="365125"/>
          </a:xfrm>
        </p:spPr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0C4CAE4-7999-4689-BDF1-74DE61D83891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5470" y="971550"/>
            <a:ext cx="2451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位姿更新公式</a:t>
            </a:r>
            <a:endParaRPr lang="zh-CN" altLang="en-US" sz="2000" b="1"/>
          </a:p>
        </p:txBody>
      </p:sp>
      <p:sp>
        <p:nvSpPr>
          <p:cNvPr id="8" name="文本框 7"/>
          <p:cNvSpPr txBox="1"/>
          <p:nvPr/>
        </p:nvSpPr>
        <p:spPr>
          <a:xfrm>
            <a:off x="7385050" y="1007110"/>
            <a:ext cx="2451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误差传递公式</a:t>
            </a:r>
            <a:endParaRPr lang="zh-CN" altLang="en-US" sz="2000" b="1"/>
          </a:p>
        </p:txBody>
      </p:sp>
      <p:sp>
        <p:nvSpPr>
          <p:cNvPr id="17" name="文本框 16"/>
          <p:cNvSpPr txBox="1"/>
          <p:nvPr/>
        </p:nvSpPr>
        <p:spPr>
          <a:xfrm>
            <a:off x="741680" y="2442845"/>
            <a:ext cx="24517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更新</a:t>
            </a:r>
            <a:endParaRPr lang="zh-CN" altLang="en-US" sz="2000" b="1"/>
          </a:p>
        </p:txBody>
      </p:sp>
      <p:sp>
        <p:nvSpPr>
          <p:cNvPr id="19" name="矩形 18"/>
          <p:cNvSpPr/>
          <p:nvPr/>
        </p:nvSpPr>
        <p:spPr>
          <a:xfrm>
            <a:off x="10814050" y="1637030"/>
            <a:ext cx="400050" cy="45974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10984230" y="2193925"/>
            <a:ext cx="29845" cy="123698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589530" y="3458845"/>
            <a:ext cx="1158240" cy="34988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3269615" y="3419475"/>
            <a:ext cx="624840" cy="172402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0" y="1682750"/>
            <a:ext cx="8153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7030A0"/>
                </a:solidFill>
              </a:rPr>
              <a:t>代入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621280" y="1682750"/>
            <a:ext cx="3581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7030A0"/>
                </a:solidFill>
              </a:rPr>
              <a:t>得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344285" y="1159510"/>
            <a:ext cx="779145" cy="81280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925695" y="2840355"/>
            <a:ext cx="1767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7030A0"/>
                </a:solidFill>
              </a:rPr>
              <a:t>要链式求导</a:t>
            </a:r>
            <a:endParaRPr lang="zh-CN" altLang="en-US" sz="2000" b="1">
              <a:solidFill>
                <a:srgbClr val="7030A0"/>
              </a:solidFill>
            </a:endParaRPr>
          </a:p>
        </p:txBody>
      </p:sp>
      <p:cxnSp>
        <p:nvCxnSpPr>
          <p:cNvPr id="22" name="直接箭头连接符 21"/>
          <p:cNvCxnSpPr>
            <a:stCxn id="27" idx="2"/>
            <a:endCxn id="21" idx="0"/>
          </p:cNvCxnSpPr>
          <p:nvPr/>
        </p:nvCxnSpPr>
        <p:spPr>
          <a:xfrm flipH="1">
            <a:off x="5809615" y="1972310"/>
            <a:ext cx="924560" cy="86804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 descr="图片47"/>
          <p:cNvPicPr>
            <a:picLocks noChangeAspect="1"/>
          </p:cNvPicPr>
          <p:nvPr/>
        </p:nvPicPr>
        <p:blipFill>
          <a:blip r:embed="rId6"/>
          <a:srcRect l="3657" t="7129" r="9119"/>
          <a:stretch>
            <a:fillRect/>
          </a:stretch>
        </p:blipFill>
        <p:spPr>
          <a:xfrm>
            <a:off x="585470" y="1375410"/>
            <a:ext cx="2086610" cy="1028700"/>
          </a:xfrm>
          <a:prstGeom prst="rect">
            <a:avLst/>
          </a:prstGeom>
        </p:spPr>
      </p:pic>
      <p:pic>
        <p:nvPicPr>
          <p:cNvPr id="30" name="图片 29" descr="图片53"/>
          <p:cNvPicPr>
            <a:picLocks noChangeAspect="1"/>
          </p:cNvPicPr>
          <p:nvPr/>
        </p:nvPicPr>
        <p:blipFill>
          <a:blip r:embed="rId7"/>
          <a:srcRect l="2415" t="7527" r="2309" b="10179"/>
          <a:stretch>
            <a:fillRect/>
          </a:stretch>
        </p:blipFill>
        <p:spPr>
          <a:xfrm>
            <a:off x="7046595" y="3528060"/>
            <a:ext cx="4999990" cy="1059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WPS 演示</Application>
  <PresentationFormat>宽屏</PresentationFormat>
  <Paragraphs>51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MS PGothic</vt:lpstr>
      <vt:lpstr>Wingdings 2</vt:lpstr>
      <vt:lpstr>华文新魏</vt:lpstr>
      <vt:lpstr>微软雅黑</vt:lpstr>
      <vt:lpstr>华文细黑</vt:lpstr>
      <vt:lpstr>Calibri</vt:lpstr>
      <vt:lpstr>Courier New</vt:lpstr>
      <vt:lpstr>Cambria Math</vt:lpstr>
      <vt:lpstr>Arial Unicode MS</vt:lpstr>
      <vt:lpstr>等线</vt:lpstr>
      <vt:lpstr>Calibri Light</vt:lpstr>
      <vt:lpstr>WPS</vt:lpstr>
      <vt:lpstr>HDOfficeLightV0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张恒硕</cp:lastModifiedBy>
  <cp:revision>52</cp:revision>
  <dcterms:created xsi:type="dcterms:W3CDTF">2023-08-09T12:44:00Z</dcterms:created>
  <dcterms:modified xsi:type="dcterms:W3CDTF">2026-08-07T08:26:13Z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EDF57CE02EBF45F5A66F9CBC3FEBCFB3_12</vt:lpwstr>
  </property>
</Properties>
</file>