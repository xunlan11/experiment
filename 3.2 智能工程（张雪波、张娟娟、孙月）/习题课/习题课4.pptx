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notesMasterIdLst>
    <p:notesMasterId r:id="rId5"/>
  </p:notesMasterIdLst>
  <p:sldIdLst>
    <p:sldId id="464" r:id="rId4"/>
    <p:sldId id="8139" r:id="rId6"/>
    <p:sldId id="8140" r:id="rId7"/>
    <p:sldId id="8141" r:id="rId8"/>
    <p:sldId id="8142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88" d="100"/>
          <a:sy n="88" d="100"/>
        </p:scale>
        <p:origin x="168" y="33"/>
      </p:cViewPr>
      <p:guideLst>
        <p:guide orient="horz" pos="2222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E8129B-1F2D-4497-888B-0FD5D037D29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F4E987-7990-4382-85F6-C58A3C7D76D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14400">
              <a:defRPr/>
            </a:pPr>
            <a:fld id="{AA010BBB-6439-4E86-954B-826F3FA2D366}" type="slidenum">
              <a:rPr lang="zh-CN" altLang="en-US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</a:fld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zh-CN" sz="1600" b="1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744F346-9435-41B1-AD1D-461963F20BE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zh-CN" sz="1600" b="1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744F346-9435-41B1-AD1D-461963F20BE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zh-CN" sz="1600" b="1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744F346-9435-41B1-AD1D-461963F20BE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zh-CN" sz="1600" b="1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744F346-9435-41B1-AD1D-461963F20BE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jpe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oShape 16"/>
          <p:cNvSpPr>
            <a:spLocks noChangeArrowheads="1"/>
          </p:cNvSpPr>
          <p:nvPr userDrawn="1"/>
        </p:nvSpPr>
        <p:spPr bwMode="auto">
          <a:xfrm>
            <a:off x="-1" y="0"/>
            <a:ext cx="12193200" cy="3356992"/>
          </a:xfrm>
          <a:prstGeom prst="roundRect">
            <a:avLst>
              <a:gd name="adj" fmla="val 32"/>
            </a:avLst>
          </a:prstGeom>
          <a:solidFill>
            <a:srgbClr val="7E0C6E"/>
          </a:solidFill>
          <a:ln w="9525">
            <a:noFill/>
            <a:round/>
          </a:ln>
        </p:spPr>
        <p:txBody>
          <a:bodyPr wrap="none" anchor="ctr"/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600" dirty="0">
              <a:solidFill>
                <a:srgbClr val="FFFFFF"/>
              </a:solidFill>
              <a:latin typeface="Arial" panose="020B0604020202020204" pitchFamily="34" charset="0"/>
              <a:ea typeface="MS PGothic" panose="020B0600070205080204" charset="-128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1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24893-DBDA-4BFA-9CE1-4BFE7CD0F8CF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19000"/>
    </mc:Choice>
    <mc:Fallback>
      <p:transition advTm="19000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D3E9E-A95C-48F2-B4BF-A71542E0BE9A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19000"/>
    </mc:Choice>
    <mc:Fallback>
      <p:transition advTm="19000"/>
    </mc:Fallback>
  </mc:AlternateContent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1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F84E2-2D7A-43CF-AC90-352A289A783A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19000"/>
    </mc:Choice>
    <mc:Fallback>
      <p:transition advTm="19000"/>
    </mc:Fallback>
  </mc:AlternateContent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45127" y="1828801"/>
            <a:ext cx="5181600" cy="435133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8801"/>
            <a:ext cx="5181600" cy="435133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952B5-7A2F-4CC8-B7CE-9234E21C2837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19000"/>
    </mc:Choice>
    <mc:Fallback>
      <p:transition advTm="19000"/>
    </mc:Fallback>
  </mc:AlternateContent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45127" y="1681851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45127" y="2507551"/>
            <a:ext cx="5156200" cy="36805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1" y="1681851"/>
            <a:ext cx="5181601" cy="825699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1" y="2507551"/>
            <a:ext cx="5181601" cy="36805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DA07A-9201-4B4B-BAF2-015AFA30F520}" type="datetime1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19000"/>
    </mc:Choice>
    <mc:Fallback>
      <p:transition advTm="19000"/>
    </mc:Fallback>
  </mc:AlternateContent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7E00A-486F-4252-8B1D-E32645521F49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19000"/>
    </mc:Choice>
    <mc:Fallback>
      <p:transition advTm="19000"/>
    </mc:Fallback>
  </mc:AlternateContent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5F92-E675-4B36-9A60-69A962A68675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矩形 5"/>
          <p:cNvSpPr/>
          <p:nvPr userDrawn="1"/>
        </p:nvSpPr>
        <p:spPr>
          <a:xfrm>
            <a:off x="480054" y="260648"/>
            <a:ext cx="480053" cy="480053"/>
          </a:xfrm>
          <a:prstGeom prst="rect">
            <a:avLst/>
          </a:prstGeom>
          <a:noFill/>
          <a:ln w="9525">
            <a:solidFill>
              <a:srgbClr val="923E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sp>
        <p:nvSpPr>
          <p:cNvPr id="7" name="矩形 6"/>
          <p:cNvSpPr/>
          <p:nvPr userDrawn="1"/>
        </p:nvSpPr>
        <p:spPr>
          <a:xfrm>
            <a:off x="713587" y="456691"/>
            <a:ext cx="387019" cy="387019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>
              <a:gradFill>
                <a:gsLst>
                  <a:gs pos="0">
                    <a:srgbClr val="66CCFF"/>
                  </a:gs>
                  <a:gs pos="52000">
                    <a:schemeClr val="bg1"/>
                  </a:gs>
                  <a:gs pos="100000">
                    <a:srgbClr val="0070C0"/>
                  </a:gs>
                </a:gsLst>
                <a:lin ang="0" scaled="1"/>
              </a:gradFill>
            </a:endParaRPr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1196616" y="811379"/>
            <a:ext cx="10995384" cy="0"/>
          </a:xfrm>
          <a:prstGeom prst="line">
            <a:avLst/>
          </a:prstGeom>
          <a:ln w="15875">
            <a:solidFill>
              <a:srgbClr val="923E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1"/>
          <p:cNvSpPr>
            <a:spLocks noChangeArrowheads="1"/>
          </p:cNvSpPr>
          <p:nvPr userDrawn="1"/>
        </p:nvSpPr>
        <p:spPr bwMode="auto">
          <a:xfrm>
            <a:off x="0" y="6638978"/>
            <a:ext cx="12192000" cy="231721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txBody>
          <a:bodyPr lIns="91428" tIns="45713" rIns="91428" bIns="45713" anchor="ctr"/>
          <a:lstStyle/>
          <a:p>
            <a:pPr algn="ctr" eaLnBrk="1" hangingPunct="1"/>
            <a:endParaRPr lang="zh-CN" altLang="en-US" sz="3200">
              <a:solidFill>
                <a:srgbClr val="FFFFFF"/>
              </a:solidFill>
              <a:cs typeface="+mn-ea"/>
              <a:sym typeface="+mn-lt"/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 userDrawn="1"/>
        </p:nvPicPr>
        <p:blipFill>
          <a:blip r:embed="rId4" cstate="print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1415" y="109848"/>
            <a:ext cx="1781236" cy="630853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19000"/>
    </mc:Choice>
    <mc:Fallback>
      <p:transition advTm="19000"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E2C9B-5FA2-460D-9BE7-B0812FC2A6FF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19000"/>
    </mc:Choice>
    <mc:Fallback>
      <p:transition advTm="19000"/>
    </mc:Fallback>
  </mc:AlternateContent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74940-A916-4C8B-9648-02A2D3898F9E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19000"/>
    </mc:Choice>
    <mc:Fallback>
      <p:transition advTm="19000"/>
    </mc:Fallback>
  </mc:AlternateContent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E5243-F52A-4D37-9694-EB26C6C31910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19000"/>
    </mc:Choice>
    <mc:Fallback>
      <p:transition advTm="19000"/>
    </mc:Fallback>
  </mc:AlternateContent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0362"/>
            <a:ext cx="2628900" cy="581183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1" y="360363"/>
            <a:ext cx="7734300" cy="5811837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7B6E1-634A-48DC-9E8B-D894023267EF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19000"/>
    </mc:Choice>
    <mc:Fallback>
      <p:transition advTm="19000"/>
    </mc:Fallback>
  </mc:AlternateContent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oShape 16"/>
          <p:cNvSpPr>
            <a:spLocks noChangeArrowheads="1"/>
          </p:cNvSpPr>
          <p:nvPr userDrawn="1"/>
        </p:nvSpPr>
        <p:spPr bwMode="auto">
          <a:xfrm>
            <a:off x="-1" y="0"/>
            <a:ext cx="12193200" cy="3356992"/>
          </a:xfrm>
          <a:prstGeom prst="roundRect">
            <a:avLst>
              <a:gd name="adj" fmla="val 32"/>
            </a:avLst>
          </a:prstGeom>
          <a:solidFill>
            <a:srgbClr val="7E0C6E"/>
          </a:solidFill>
          <a:ln w="9525">
            <a:noFill/>
            <a:round/>
          </a:ln>
        </p:spPr>
        <p:txBody>
          <a:bodyPr wrap="none" anchor="ctr"/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600" dirty="0">
              <a:solidFill>
                <a:srgbClr val="FFFFFF"/>
              </a:solidFill>
              <a:latin typeface="Arial" panose="020B0604020202020204" pitchFamily="34" charset="0"/>
              <a:ea typeface="MS PGothic" panose="020B0600070205080204" charset="-128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19000"/>
    </mc:Choice>
    <mc:Fallback>
      <p:transition advTm="19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1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5586B75A-687E-405C-8A0B-8D00578BA2C3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mc:AlternateContent xmlns:mc="http://schemas.openxmlformats.org/markup-compatibility/2006">
    <mc:Choice xmlns:p14="http://schemas.microsoft.com/office/powerpoint/2010/main" Requires="p14">
      <p:transition p14:dur="10" advTm="19000"/>
    </mc:Choice>
    <mc:Fallback>
      <p:transition advTm="19000"/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 2" panose="05020102010507070707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anose="05020102010507070707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anose="05020102010507070707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anose="05020102010507070707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anose="05020102010507070707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9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9" descr="bei0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2" y="3356992"/>
            <a:ext cx="5228591" cy="3501008"/>
          </a:xfrm>
          <a:prstGeom prst="rect">
            <a:avLst/>
          </a:prstGeom>
          <a:noFill/>
          <a:ln>
            <a:noFill/>
          </a:ln>
          <a:effectLst>
            <a:softEdge rad="63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文本框 9"/>
          <p:cNvSpPr txBox="1"/>
          <p:nvPr/>
        </p:nvSpPr>
        <p:spPr>
          <a:xfrm>
            <a:off x="0" y="3692902"/>
            <a:ext cx="12188688" cy="20089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Arial" panose="020B0604020202020204" pitchFamily="34" charset="0"/>
              </a:rPr>
              <a:t>  </a:t>
            </a:r>
            <a:endParaRPr kumimoji="0" lang="en-US" altLang="zh-CN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南开大学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机器人与信息自动化研究所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360000" y="1473124"/>
          <a:ext cx="11336700" cy="1188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336700"/>
              </a:tblGrid>
              <a:tr h="1188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54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+mn-ea"/>
                        </a:rPr>
                        <a:t>习题课（第</a:t>
                      </a:r>
                      <a:r>
                        <a:rPr lang="en-US" altLang="zh-CN" sz="54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+mn-ea"/>
                        </a:rPr>
                        <a:t>4</a:t>
                      </a:r>
                      <a:r>
                        <a:rPr lang="zh-CN" altLang="en-US" sz="54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+mn-ea"/>
                        </a:rPr>
                        <a:t>次作业）</a:t>
                      </a:r>
                      <a:endParaRPr lang="zh-CN" altLang="en-US" sz="54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68580" marR="68580" anchor="ctr"/>
                </a:tc>
              </a:tr>
            </a:tbl>
          </a:graphicData>
        </a:graphic>
      </p:graphicFrame>
      <p:pic>
        <p:nvPicPr>
          <p:cNvPr id="8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9" t="7873" r="5016" b="8956"/>
          <a:stretch>
            <a:fillRect/>
          </a:stretch>
        </p:blipFill>
        <p:spPr>
          <a:xfrm>
            <a:off x="360000" y="215998"/>
            <a:ext cx="2783672" cy="991993"/>
          </a:xfrm>
          <a:prstGeom prst="rect">
            <a:avLst/>
          </a:prstGeom>
        </p:spPr>
      </p:pic>
      <p:pic>
        <p:nvPicPr>
          <p:cNvPr id="11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9536" y="5715918"/>
            <a:ext cx="3643505" cy="667736"/>
          </a:xfrm>
          <a:prstGeom prst="rect">
            <a:avLst/>
          </a:prstGeom>
        </p:spPr>
      </p:pic>
      <p:sp>
        <p:nvSpPr>
          <p:cNvPr id="12" name="Text Box 26"/>
          <p:cNvSpPr txBox="1">
            <a:spLocks noChangeArrowheads="1"/>
          </p:cNvSpPr>
          <p:nvPr/>
        </p:nvSpPr>
        <p:spPr bwMode="auto">
          <a:xfrm>
            <a:off x="6982474" y="5689852"/>
            <a:ext cx="4105275" cy="76944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A886E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机器人与信息自动化研究所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A886E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Institute of Robotics &amp; Automatic Information System</a:t>
            </a:r>
            <a:endParaRPr kumimoji="0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A886E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天津市智能机器人技术重点实验室</a:t>
            </a:r>
            <a:endParaRPr kumimoji="0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A886E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800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 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Tianjin  Key  Laboratory  of  Intelligent  Robotics</a:t>
            </a:r>
            <a:endParaRPr kumimoji="0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  <a:cs typeface="+mn-cs"/>
            </a:endParaRPr>
          </a:p>
        </p:txBody>
      </p:sp>
      <p:pic>
        <p:nvPicPr>
          <p:cNvPr id="13" name="Picture 27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2024" y="5699058"/>
            <a:ext cx="529954" cy="701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264365" y="2322418"/>
          <a:ext cx="11336700" cy="76944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336700"/>
              </a:tblGrid>
              <a:tr h="76944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28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68580" marR="68580" anchor="ctr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3"/>
          <p:cNvSpPr txBox="1"/>
          <p:nvPr/>
        </p:nvSpPr>
        <p:spPr>
          <a:xfrm>
            <a:off x="0" y="164638"/>
            <a:ext cx="12192000" cy="58356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">
              <a:contourClr>
                <a:schemeClr val="bg1"/>
              </a:contourClr>
            </a:sp3d>
          </a:bodyPr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solidFill>
                    <a:srgbClr val="C00000"/>
                  </a:solidFill>
                </a:ln>
                <a:gradFill flip="none" rotWithShape="1">
                  <a:gsLst>
                    <a:gs pos="0">
                      <a:srgbClr val="4F81BD">
                        <a:lumMod val="5000"/>
                        <a:lumOff val="95000"/>
                      </a:srgbClr>
                    </a:gs>
                    <a:gs pos="100000">
                      <a:srgbClr val="FF0000"/>
                    </a:gs>
                  </a:gsLst>
                  <a:lin ang="5400000" scaled="1"/>
                  <a:tileRect/>
                </a:gradFill>
                <a:effectLst>
                  <a:glow rad="63500">
                    <a:srgbClr val="4F81BD">
                      <a:satMod val="175000"/>
                      <a:alpha val="40000"/>
                    </a:srgbClr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第四次作业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solidFill>
                    <a:srgbClr val="C00000"/>
                  </a:solidFill>
                </a:ln>
                <a:gradFill flip="none" rotWithShape="1">
                  <a:gsLst>
                    <a:gs pos="0">
                      <a:srgbClr val="4F81BD">
                        <a:lumMod val="5000"/>
                        <a:lumOff val="95000"/>
                      </a:srgbClr>
                    </a:gs>
                    <a:gs pos="100000">
                      <a:srgbClr val="FF0000"/>
                    </a:gs>
                  </a:gsLst>
                  <a:lin ang="5400000" scaled="1"/>
                  <a:tileRect/>
                </a:gradFill>
                <a:effectLst>
                  <a:glow rad="63500">
                    <a:srgbClr val="4F81BD">
                      <a:satMod val="175000"/>
                      <a:alpha val="40000"/>
                    </a:srgbClr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——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solidFill>
                    <a:srgbClr val="C00000"/>
                  </a:solidFill>
                </a:ln>
                <a:gradFill flip="none" rotWithShape="1">
                  <a:gsLst>
                    <a:gs pos="0">
                      <a:srgbClr val="4F81BD">
                        <a:lumMod val="5000"/>
                        <a:lumOff val="95000"/>
                      </a:srgbClr>
                    </a:gs>
                    <a:gs pos="100000">
                      <a:srgbClr val="FF0000"/>
                    </a:gs>
                  </a:gsLst>
                  <a:lin ang="5400000" scaled="1"/>
                  <a:tileRect/>
                </a:gradFill>
                <a:effectLst>
                  <a:glow rad="63500">
                    <a:srgbClr val="4F81BD">
                      <a:satMod val="175000"/>
                      <a:alpha val="40000"/>
                    </a:srgbClr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分隔与合并</a:t>
            </a:r>
            <a:endParaRPr kumimoji="0" lang="zh-CN" altLang="en-US" sz="3200" b="1" i="0" u="none" strike="noStrike" kern="1200" cap="none" spc="0" normalizeH="0" baseline="0" noProof="0" dirty="0">
              <a:ln>
                <a:solidFill>
                  <a:srgbClr val="C00000"/>
                </a:solidFill>
              </a:ln>
              <a:gradFill flip="none" rotWithShape="1">
                <a:gsLst>
                  <a:gs pos="0">
                    <a:srgbClr val="4F81BD">
                      <a:lumMod val="5000"/>
                      <a:lumOff val="95000"/>
                    </a:srgbClr>
                  </a:gs>
                  <a:gs pos="100000">
                    <a:srgbClr val="FF0000"/>
                  </a:gs>
                </a:gsLst>
                <a:lin ang="5400000" scaled="1"/>
                <a:tileRect/>
              </a:gradFill>
              <a:effectLst>
                <a:glow rad="63500">
                  <a:srgbClr val="4F81BD">
                    <a:satMod val="175000"/>
                    <a:alpha val="40000"/>
                  </a:srgbClr>
                </a:glow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9820907" y="6560487"/>
            <a:ext cx="2743200" cy="365125"/>
          </a:xfrm>
        </p:spPr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0C4CAE4-7999-4689-BDF1-74DE61D83891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1"/>
          <a:srcRect l="6183" t="3055" r="3959" b="61087"/>
          <a:stretch>
            <a:fillRect/>
          </a:stretch>
        </p:blipFill>
        <p:spPr>
          <a:xfrm>
            <a:off x="8470900" y="1033145"/>
            <a:ext cx="3416935" cy="2611755"/>
          </a:xfrm>
          <a:prstGeom prst="rect">
            <a:avLst/>
          </a:prstGeom>
        </p:spPr>
      </p:pic>
      <p:sp>
        <p:nvSpPr>
          <p:cNvPr id="41" name="文本框 40"/>
          <p:cNvSpPr txBox="1"/>
          <p:nvPr/>
        </p:nvSpPr>
        <p:spPr>
          <a:xfrm>
            <a:off x="515620" y="5833110"/>
            <a:ext cx="7724140" cy="70675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20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因为是从小线段向大线段合并，所以小线段拟合较好，较难连成长直线，也会存在外点线段。</a:t>
            </a:r>
            <a:endParaRPr lang="zh-CN" altLang="en-US" sz="20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 descr="图片3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690" y="1093470"/>
            <a:ext cx="7926070" cy="463359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l="9520" t="52991" r="4070" b="10141"/>
          <a:stretch>
            <a:fillRect/>
          </a:stretch>
        </p:blipFill>
        <p:spPr>
          <a:xfrm>
            <a:off x="8470900" y="3644900"/>
            <a:ext cx="3416300" cy="27908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3"/>
          <p:cNvSpPr txBox="1"/>
          <p:nvPr/>
        </p:nvSpPr>
        <p:spPr>
          <a:xfrm>
            <a:off x="0" y="164638"/>
            <a:ext cx="12192000" cy="58356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">
              <a:contourClr>
                <a:schemeClr val="bg1"/>
              </a:contourClr>
            </a:sp3d>
          </a:bodyPr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solidFill>
                    <a:srgbClr val="C00000"/>
                  </a:solidFill>
                </a:ln>
                <a:gradFill flip="none" rotWithShape="1">
                  <a:gsLst>
                    <a:gs pos="0">
                      <a:srgbClr val="4F81BD">
                        <a:lumMod val="5000"/>
                        <a:lumOff val="95000"/>
                      </a:srgbClr>
                    </a:gs>
                    <a:gs pos="100000">
                      <a:srgbClr val="FF0000"/>
                    </a:gs>
                  </a:gsLst>
                  <a:lin ang="5400000" scaled="1"/>
                  <a:tileRect/>
                </a:gradFill>
                <a:effectLst>
                  <a:glow rad="63500">
                    <a:srgbClr val="4F81BD">
                      <a:satMod val="175000"/>
                      <a:alpha val="40000"/>
                    </a:srgbClr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第四次作业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solidFill>
                    <a:srgbClr val="C00000"/>
                  </a:solidFill>
                </a:ln>
                <a:gradFill flip="none" rotWithShape="1">
                  <a:gsLst>
                    <a:gs pos="0">
                      <a:srgbClr val="4F81BD">
                        <a:lumMod val="5000"/>
                        <a:lumOff val="95000"/>
                      </a:srgbClr>
                    </a:gs>
                    <a:gs pos="100000">
                      <a:srgbClr val="FF0000"/>
                    </a:gs>
                  </a:gsLst>
                  <a:lin ang="5400000" scaled="1"/>
                  <a:tileRect/>
                </a:gradFill>
                <a:effectLst>
                  <a:glow rad="63500">
                    <a:srgbClr val="4F81BD">
                      <a:satMod val="175000"/>
                      <a:alpha val="40000"/>
                    </a:srgbClr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——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solidFill>
                    <a:srgbClr val="C00000"/>
                  </a:solidFill>
                </a:ln>
                <a:gradFill flip="none" rotWithShape="1">
                  <a:gsLst>
                    <a:gs pos="0">
                      <a:srgbClr val="4F81BD">
                        <a:lumMod val="5000"/>
                        <a:lumOff val="95000"/>
                      </a:srgbClr>
                    </a:gs>
                    <a:gs pos="100000">
                      <a:srgbClr val="FF0000"/>
                    </a:gs>
                  </a:gsLst>
                  <a:lin ang="5400000" scaled="1"/>
                  <a:tileRect/>
                </a:gradFill>
                <a:effectLst>
                  <a:glow rad="63500">
                    <a:srgbClr val="4F81BD">
                      <a:satMod val="175000"/>
                      <a:alpha val="40000"/>
                    </a:srgbClr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线性回归</a:t>
            </a:r>
            <a:endParaRPr kumimoji="0" lang="zh-CN" altLang="en-US" sz="3200" b="1" i="0" u="none" strike="noStrike" kern="1200" cap="none" spc="0" normalizeH="0" baseline="0" noProof="0" dirty="0">
              <a:ln>
                <a:solidFill>
                  <a:srgbClr val="C00000"/>
                </a:solidFill>
              </a:ln>
              <a:gradFill flip="none" rotWithShape="1">
                <a:gsLst>
                  <a:gs pos="0">
                    <a:srgbClr val="4F81BD">
                      <a:lumMod val="5000"/>
                      <a:lumOff val="95000"/>
                    </a:srgbClr>
                  </a:gs>
                  <a:gs pos="100000">
                    <a:srgbClr val="FF0000"/>
                  </a:gs>
                </a:gsLst>
                <a:lin ang="5400000" scaled="1"/>
                <a:tileRect/>
              </a:gradFill>
              <a:effectLst>
                <a:glow rad="63500">
                  <a:srgbClr val="4F81BD">
                    <a:satMod val="175000"/>
                    <a:alpha val="40000"/>
                  </a:srgbClr>
                </a:glow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9820907" y="6560487"/>
            <a:ext cx="2743200" cy="365125"/>
          </a:xfrm>
        </p:spPr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0C4CAE4-7999-4689-BDF1-74DE61D83891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b="62154"/>
          <a:stretch>
            <a:fillRect/>
          </a:stretch>
        </p:blipFill>
        <p:spPr>
          <a:xfrm>
            <a:off x="8047355" y="958215"/>
            <a:ext cx="3606800" cy="2753995"/>
          </a:xfrm>
          <a:prstGeom prst="rect">
            <a:avLst/>
          </a:prstGeom>
        </p:spPr>
      </p:pic>
      <p:sp>
        <p:nvSpPr>
          <p:cNvPr id="41" name="文本框 40"/>
          <p:cNvSpPr txBox="1"/>
          <p:nvPr/>
        </p:nvSpPr>
        <p:spPr>
          <a:xfrm>
            <a:off x="801370" y="5085080"/>
            <a:ext cx="5873115" cy="868045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zh-CN" altLang="en-US" sz="20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也是合并，所以小线段拟合较好，较难连成长直线。</a:t>
            </a:r>
            <a:endParaRPr lang="zh-CN" altLang="en-US" sz="20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t="52091" b="10519"/>
          <a:stretch>
            <a:fillRect/>
          </a:stretch>
        </p:blipFill>
        <p:spPr>
          <a:xfrm>
            <a:off x="8047355" y="3712210"/>
            <a:ext cx="3638550" cy="2744470"/>
          </a:xfrm>
          <a:prstGeom prst="rect">
            <a:avLst/>
          </a:prstGeom>
        </p:spPr>
      </p:pic>
      <p:pic>
        <p:nvPicPr>
          <p:cNvPr id="5" name="图片 4" descr="图片4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" y="1727200"/>
            <a:ext cx="7752715" cy="27813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3"/>
          <p:cNvSpPr txBox="1"/>
          <p:nvPr/>
        </p:nvSpPr>
        <p:spPr>
          <a:xfrm>
            <a:off x="0" y="164638"/>
            <a:ext cx="12192000" cy="58356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">
              <a:contourClr>
                <a:schemeClr val="bg1"/>
              </a:contourClr>
            </a:sp3d>
          </a:bodyPr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solidFill>
                    <a:srgbClr val="C00000"/>
                  </a:solidFill>
                </a:ln>
                <a:gradFill flip="none" rotWithShape="1">
                  <a:gsLst>
                    <a:gs pos="0">
                      <a:srgbClr val="4F81BD">
                        <a:lumMod val="5000"/>
                        <a:lumOff val="95000"/>
                      </a:srgbClr>
                    </a:gs>
                    <a:gs pos="100000">
                      <a:srgbClr val="FF0000"/>
                    </a:gs>
                  </a:gsLst>
                  <a:lin ang="5400000" scaled="1"/>
                  <a:tileRect/>
                </a:gradFill>
                <a:effectLst>
                  <a:glow rad="63500">
                    <a:srgbClr val="4F81BD">
                      <a:satMod val="175000"/>
                      <a:alpha val="40000"/>
                    </a:srgbClr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第四次作业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solidFill>
                    <a:srgbClr val="C00000"/>
                  </a:solidFill>
                </a:ln>
                <a:gradFill flip="none" rotWithShape="1">
                  <a:gsLst>
                    <a:gs pos="0">
                      <a:srgbClr val="4F81BD">
                        <a:lumMod val="5000"/>
                        <a:lumOff val="95000"/>
                      </a:srgbClr>
                    </a:gs>
                    <a:gs pos="100000">
                      <a:srgbClr val="FF0000"/>
                    </a:gs>
                  </a:gsLst>
                  <a:lin ang="5400000" scaled="1"/>
                  <a:tileRect/>
                </a:gradFill>
                <a:effectLst>
                  <a:glow rad="63500">
                    <a:srgbClr val="4F81BD">
                      <a:satMod val="175000"/>
                      <a:alpha val="40000"/>
                    </a:srgbClr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——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solidFill>
                    <a:srgbClr val="C00000"/>
                  </a:solidFill>
                </a:ln>
                <a:gradFill flip="none" rotWithShape="1">
                  <a:gsLst>
                    <a:gs pos="0">
                      <a:srgbClr val="4F81BD">
                        <a:lumMod val="5000"/>
                        <a:lumOff val="95000"/>
                      </a:srgbClr>
                    </a:gs>
                    <a:gs pos="100000">
                      <a:srgbClr val="FF0000"/>
                    </a:gs>
                  </a:gsLst>
                  <a:lin ang="5400000" scaled="1"/>
                  <a:tileRect/>
                </a:gradFill>
                <a:effectLst>
                  <a:glow rad="63500">
                    <a:srgbClr val="4F81BD">
                      <a:satMod val="175000"/>
                      <a:alpha val="40000"/>
                    </a:srgbClr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随机抽样一致性</a:t>
            </a:r>
            <a:endParaRPr kumimoji="0" lang="zh-CN" altLang="en-US" sz="3200" b="1" i="0" u="none" strike="noStrike" kern="1200" cap="none" spc="0" normalizeH="0" baseline="0" noProof="0" dirty="0">
              <a:ln>
                <a:solidFill>
                  <a:srgbClr val="C00000"/>
                </a:solidFill>
              </a:ln>
              <a:gradFill flip="none" rotWithShape="1">
                <a:gsLst>
                  <a:gs pos="0">
                    <a:srgbClr val="4F81BD">
                      <a:lumMod val="5000"/>
                      <a:lumOff val="95000"/>
                    </a:srgbClr>
                  </a:gs>
                  <a:gs pos="100000">
                    <a:srgbClr val="FF0000"/>
                  </a:gs>
                </a:gsLst>
                <a:lin ang="5400000" scaled="1"/>
                <a:tileRect/>
              </a:gradFill>
              <a:effectLst>
                <a:glow rad="63500">
                  <a:srgbClr val="4F81BD">
                    <a:satMod val="175000"/>
                    <a:alpha val="40000"/>
                  </a:srgbClr>
                </a:glow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9820907" y="6560487"/>
            <a:ext cx="2743200" cy="365125"/>
          </a:xfrm>
        </p:spPr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0C4CAE4-7999-4689-BDF1-74DE61D83891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b="60554"/>
          <a:stretch>
            <a:fillRect/>
          </a:stretch>
        </p:blipFill>
        <p:spPr>
          <a:xfrm>
            <a:off x="8077835" y="1485265"/>
            <a:ext cx="3820795" cy="2938145"/>
          </a:xfrm>
          <a:prstGeom prst="rect">
            <a:avLst/>
          </a:prstGeom>
        </p:spPr>
      </p:pic>
      <p:sp>
        <p:nvSpPr>
          <p:cNvPr id="41" name="文本框 40"/>
          <p:cNvSpPr txBox="1"/>
          <p:nvPr/>
        </p:nvSpPr>
        <p:spPr>
          <a:xfrm>
            <a:off x="8422640" y="4774565"/>
            <a:ext cx="3258185" cy="1160145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zh-CN" altLang="en-US" sz="20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如果外点较多，未采样到全内点组合，会有错误结果。</a:t>
            </a:r>
            <a:endParaRPr lang="zh-CN" altLang="en-US" sz="20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" name="图片 3" descr="图片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885" y="946150"/>
            <a:ext cx="7504430" cy="54190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3"/>
          <p:cNvSpPr txBox="1"/>
          <p:nvPr/>
        </p:nvSpPr>
        <p:spPr>
          <a:xfrm>
            <a:off x="0" y="164638"/>
            <a:ext cx="12192000" cy="58356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">
              <a:contourClr>
                <a:schemeClr val="bg1"/>
              </a:contourClr>
            </a:sp3d>
          </a:bodyPr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solidFill>
                    <a:srgbClr val="C00000"/>
                  </a:solidFill>
                </a:ln>
                <a:gradFill flip="none" rotWithShape="1">
                  <a:gsLst>
                    <a:gs pos="0">
                      <a:srgbClr val="4F81BD">
                        <a:lumMod val="5000"/>
                        <a:lumOff val="95000"/>
                      </a:srgbClr>
                    </a:gs>
                    <a:gs pos="100000">
                      <a:srgbClr val="FF0000"/>
                    </a:gs>
                  </a:gsLst>
                  <a:lin ang="5400000" scaled="1"/>
                  <a:tileRect/>
                </a:gradFill>
                <a:effectLst>
                  <a:glow rad="63500">
                    <a:srgbClr val="4F81BD">
                      <a:satMod val="175000"/>
                      <a:alpha val="40000"/>
                    </a:srgbClr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第四次作业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solidFill>
                    <a:srgbClr val="C00000"/>
                  </a:solidFill>
                </a:ln>
                <a:gradFill flip="none" rotWithShape="1">
                  <a:gsLst>
                    <a:gs pos="0">
                      <a:srgbClr val="4F81BD">
                        <a:lumMod val="5000"/>
                        <a:lumOff val="95000"/>
                      </a:srgbClr>
                    </a:gs>
                    <a:gs pos="100000">
                      <a:srgbClr val="FF0000"/>
                    </a:gs>
                  </a:gsLst>
                  <a:lin ang="5400000" scaled="1"/>
                  <a:tileRect/>
                </a:gradFill>
                <a:effectLst>
                  <a:glow rad="63500">
                    <a:srgbClr val="4F81BD">
                      <a:satMod val="175000"/>
                      <a:alpha val="40000"/>
                    </a:srgbClr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——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solidFill>
                    <a:srgbClr val="C00000"/>
                  </a:solidFill>
                </a:ln>
                <a:gradFill flip="none" rotWithShape="1">
                  <a:gsLst>
                    <a:gs pos="0">
                      <a:srgbClr val="4F81BD">
                        <a:lumMod val="5000"/>
                        <a:lumOff val="95000"/>
                      </a:srgbClr>
                    </a:gs>
                    <a:gs pos="100000">
                      <a:srgbClr val="FF0000"/>
                    </a:gs>
                  </a:gsLst>
                  <a:lin ang="5400000" scaled="1"/>
                  <a:tileRect/>
                </a:gradFill>
                <a:effectLst>
                  <a:glow rad="63500">
                    <a:srgbClr val="4F81BD">
                      <a:satMod val="175000"/>
                      <a:alpha val="40000"/>
                    </a:srgbClr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霍夫变换</a:t>
            </a:r>
            <a:endParaRPr kumimoji="0" lang="zh-CN" altLang="en-US" sz="3200" b="1" i="0" u="none" strike="noStrike" kern="1200" cap="none" spc="0" normalizeH="0" baseline="0" noProof="0" dirty="0">
              <a:ln>
                <a:solidFill>
                  <a:srgbClr val="C00000"/>
                </a:solidFill>
              </a:ln>
              <a:gradFill flip="none" rotWithShape="1">
                <a:gsLst>
                  <a:gs pos="0">
                    <a:srgbClr val="4F81BD">
                      <a:lumMod val="5000"/>
                      <a:lumOff val="95000"/>
                    </a:srgbClr>
                  </a:gs>
                  <a:gs pos="100000">
                    <a:srgbClr val="FF0000"/>
                  </a:gs>
                </a:gsLst>
                <a:lin ang="5400000" scaled="1"/>
                <a:tileRect/>
              </a:gradFill>
              <a:effectLst>
                <a:glow rad="63500">
                  <a:srgbClr val="4F81BD">
                    <a:satMod val="175000"/>
                    <a:alpha val="40000"/>
                  </a:srgbClr>
                </a:glow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9820907" y="6560487"/>
            <a:ext cx="2743200" cy="365125"/>
          </a:xfrm>
        </p:spPr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0C4CAE4-7999-4689-BDF1-74DE61D83891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t="1102" r="6492" b="60295"/>
          <a:stretch>
            <a:fillRect/>
          </a:stretch>
        </p:blipFill>
        <p:spPr>
          <a:xfrm>
            <a:off x="8148955" y="824865"/>
            <a:ext cx="3366770" cy="2675255"/>
          </a:xfrm>
          <a:prstGeom prst="rect">
            <a:avLst/>
          </a:prstGeom>
        </p:spPr>
      </p:pic>
      <p:sp>
        <p:nvSpPr>
          <p:cNvPr id="41" name="文本框 40"/>
          <p:cNvSpPr txBox="1"/>
          <p:nvPr/>
        </p:nvSpPr>
        <p:spPr>
          <a:xfrm>
            <a:off x="1407160" y="5797550"/>
            <a:ext cx="5635625" cy="454025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zh-CN" altLang="en-US" sz="20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一般得到临近的一簇直线而非一条直线。</a:t>
            </a:r>
            <a:endParaRPr lang="zh-CN" altLang="en-US" sz="20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5" name="图片 4" descr="图片4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8320" y="3446780"/>
            <a:ext cx="3367405" cy="3113405"/>
          </a:xfrm>
          <a:prstGeom prst="rect">
            <a:avLst/>
          </a:prstGeom>
        </p:spPr>
      </p:pic>
      <p:pic>
        <p:nvPicPr>
          <p:cNvPr id="6" name="图片 5" descr="图片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650" y="1181100"/>
            <a:ext cx="7858125" cy="42684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319</Words>
  <Application>WPS 演示</Application>
  <PresentationFormat>宽屏</PresentationFormat>
  <Paragraphs>35</Paragraphs>
  <Slides>5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</vt:i4>
      </vt:variant>
    </vt:vector>
  </HeadingPairs>
  <TitlesOfParts>
    <vt:vector size="21" baseType="lpstr">
      <vt:lpstr>Arial</vt:lpstr>
      <vt:lpstr>宋体</vt:lpstr>
      <vt:lpstr>Wingdings</vt:lpstr>
      <vt:lpstr>MS PGothic</vt:lpstr>
      <vt:lpstr>Wingdings 2</vt:lpstr>
      <vt:lpstr>华文新魏</vt:lpstr>
      <vt:lpstr>微软雅黑</vt:lpstr>
      <vt:lpstr>华文细黑</vt:lpstr>
      <vt:lpstr>Calibri</vt:lpstr>
      <vt:lpstr>Courier New</vt:lpstr>
      <vt:lpstr>Cambria Math</vt:lpstr>
      <vt:lpstr>Arial Unicode MS</vt:lpstr>
      <vt:lpstr>等线</vt:lpstr>
      <vt:lpstr>Calibri Light</vt:lpstr>
      <vt:lpstr>WPS</vt:lpstr>
      <vt:lpstr>HDOfficeLightV0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张恒硕</cp:lastModifiedBy>
  <cp:revision>52</cp:revision>
  <dcterms:created xsi:type="dcterms:W3CDTF">2023-08-09T12:44:00Z</dcterms:created>
  <dcterms:modified xsi:type="dcterms:W3CDTF">2026-08-07T08:26:42Z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2052-12.1.0.23125</vt:lpwstr>
  </property>
  <property fmtid="{D5CDD505-2E9C-101B-9397-08002B2CF9AE}" pid="3" name="ICV">
    <vt:lpwstr>EDF57CE02EBF45F5A66F9CBC3FEBCFB3_12</vt:lpwstr>
  </property>
</Properties>
</file>