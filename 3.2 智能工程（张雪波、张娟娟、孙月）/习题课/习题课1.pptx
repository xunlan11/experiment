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464" r:id="rId4"/>
    <p:sldId id="8123" r:id="rId6"/>
    <p:sldId id="8144" r:id="rId7"/>
    <p:sldId id="8125" r:id="rId8"/>
    <p:sldId id="8145" r:id="rId9"/>
    <p:sldId id="8126" r:id="rId10"/>
    <p:sldId id="812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168" y="33"/>
      </p:cViewPr>
      <p:guideLst>
        <p:guide orient="horz" pos="219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8129B-1F2D-4497-888B-0FD5D037D2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4E987-7990-4382-85F6-C58A3C7D76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AA010BBB-6439-4E86-954B-826F3FA2D366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6"/>
          <p:cNvSpPr>
            <a:spLocks noChangeArrowheads="1"/>
          </p:cNvSpPr>
          <p:nvPr userDrawn="1"/>
        </p:nvSpPr>
        <p:spPr bwMode="auto">
          <a:xfrm>
            <a:off x="-1" y="0"/>
            <a:ext cx="12193200" cy="3356992"/>
          </a:xfrm>
          <a:prstGeom prst="roundRect">
            <a:avLst>
              <a:gd name="adj" fmla="val 32"/>
            </a:avLst>
          </a:prstGeom>
          <a:solidFill>
            <a:srgbClr val="7E0C6E"/>
          </a:solidFill>
          <a:ln w="9525">
            <a:noFill/>
            <a:round/>
          </a:ln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dirty="0">
              <a:solidFill>
                <a:srgbClr val="FFFFFF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1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45127" y="1828801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8801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45127" y="1681851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5127" y="2507551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851"/>
            <a:ext cx="5181601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7551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480054" y="260648"/>
            <a:ext cx="480053" cy="480053"/>
          </a:xfrm>
          <a:prstGeom prst="rect">
            <a:avLst/>
          </a:prstGeom>
          <a:noFill/>
          <a:ln w="9525">
            <a:solidFill>
              <a:srgbClr val="923E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7" name="矩形 6"/>
          <p:cNvSpPr/>
          <p:nvPr userDrawn="1"/>
        </p:nvSpPr>
        <p:spPr>
          <a:xfrm>
            <a:off x="713587" y="456691"/>
            <a:ext cx="387019" cy="38701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gradFill>
                <a:gsLst>
                  <a:gs pos="0">
                    <a:srgbClr val="66CCFF"/>
                  </a:gs>
                  <a:gs pos="52000">
                    <a:schemeClr val="bg1"/>
                  </a:gs>
                  <a:gs pos="100000">
                    <a:srgbClr val="0070C0"/>
                  </a:gs>
                </a:gsLst>
                <a:lin ang="0" scaled="1"/>
              </a:gra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196616" y="811379"/>
            <a:ext cx="10995384" cy="0"/>
          </a:xfrm>
          <a:prstGeom prst="line">
            <a:avLst/>
          </a:prstGeom>
          <a:ln w="15875">
            <a:solidFill>
              <a:srgbClr val="923E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1"/>
          <p:cNvSpPr>
            <a:spLocks noChangeArrowheads="1"/>
          </p:cNvSpPr>
          <p:nvPr userDrawn="1"/>
        </p:nvSpPr>
        <p:spPr bwMode="auto">
          <a:xfrm>
            <a:off x="0" y="6638978"/>
            <a:ext cx="12192000" cy="23172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lIns="91428" tIns="45713" rIns="91428" bIns="45713" anchor="ctr"/>
          <a:lstStyle/>
          <a:p>
            <a:pPr algn="ctr" eaLnBrk="1" hangingPunct="1"/>
            <a:endParaRPr lang="zh-CN" altLang="en-US" sz="32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1415" y="109848"/>
            <a:ext cx="1781236" cy="63085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0363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6"/>
          <p:cNvSpPr>
            <a:spLocks noChangeArrowheads="1"/>
          </p:cNvSpPr>
          <p:nvPr userDrawn="1"/>
        </p:nvSpPr>
        <p:spPr bwMode="auto">
          <a:xfrm>
            <a:off x="-1" y="0"/>
            <a:ext cx="12193200" cy="3356992"/>
          </a:xfrm>
          <a:prstGeom prst="roundRect">
            <a:avLst>
              <a:gd name="adj" fmla="val 32"/>
            </a:avLst>
          </a:prstGeom>
          <a:solidFill>
            <a:srgbClr val="7E0C6E"/>
          </a:solidFill>
          <a:ln w="9525">
            <a:noFill/>
            <a:round/>
          </a:ln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dirty="0">
              <a:solidFill>
                <a:srgbClr val="FFFFFF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1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9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9.xml"/><Relationship Id="rId6" Type="http://schemas.openxmlformats.org/officeDocument/2006/relationships/image" Target="../media/image3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9" descr="bei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" y="3356992"/>
            <a:ext cx="5228591" cy="3501008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0" y="3692902"/>
            <a:ext cx="12188688" cy="2008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  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南开大学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机器人与信息自动化研究所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60000" y="1473124"/>
          <a:ext cx="11336700" cy="118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36700"/>
              </a:tblGrid>
              <a:tr h="11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5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习题课（第</a:t>
                      </a:r>
                      <a:r>
                        <a:rPr lang="en-US" altLang="zh-CN" sz="5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1</a:t>
                      </a:r>
                      <a:r>
                        <a:rPr lang="zh-CN" altLang="en-US" sz="5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次作业）</a:t>
                      </a:r>
                      <a:endParaRPr lang="zh-CN" altLang="en-US" sz="5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8580" marR="68580" anchor="ctr"/>
                </a:tc>
              </a:tr>
            </a:tbl>
          </a:graphicData>
        </a:graphic>
      </p:graphicFrame>
      <p:pic>
        <p:nvPicPr>
          <p:cNvPr id="8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9" t="7873" r="5016" b="8956"/>
          <a:stretch>
            <a:fillRect/>
          </a:stretch>
        </p:blipFill>
        <p:spPr>
          <a:xfrm>
            <a:off x="360000" y="215998"/>
            <a:ext cx="2783672" cy="991993"/>
          </a:xfrm>
          <a:prstGeom prst="rect">
            <a:avLst/>
          </a:prstGeom>
        </p:spPr>
      </p:pic>
      <p:pic>
        <p:nvPicPr>
          <p:cNvPr id="11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5715918"/>
            <a:ext cx="3643505" cy="667736"/>
          </a:xfrm>
          <a:prstGeom prst="rect">
            <a:avLst/>
          </a:prstGeom>
        </p:spPr>
      </p:pic>
      <p:sp>
        <p:nvSpPr>
          <p:cNvPr id="12" name="Text Box 26"/>
          <p:cNvSpPr txBox="1">
            <a:spLocks noChangeArrowheads="1"/>
          </p:cNvSpPr>
          <p:nvPr/>
        </p:nvSpPr>
        <p:spPr bwMode="auto">
          <a:xfrm>
            <a:off x="6982474" y="5689852"/>
            <a:ext cx="4105275" cy="7694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886E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机器人与信息自动化研究所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886E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Institute of Robotics &amp; Automatic Information System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886E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天津市智能机器人技术重点实验室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886E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Tianjin  Key  Laboratory  of  Intelligent  Robotics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</p:txBody>
      </p:sp>
      <p:pic>
        <p:nvPicPr>
          <p:cNvPr id="13" name="Picture 2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24" y="5699058"/>
            <a:ext cx="529954" cy="701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64365" y="2322418"/>
          <a:ext cx="11336700" cy="7694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36700"/>
              </a:tblGrid>
              <a:tr h="7694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8580" marR="6858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3858260"/>
            <a:ext cx="5255895" cy="2579370"/>
          </a:xfrm>
          <a:prstGeom prst="rect">
            <a:avLst/>
          </a:prstGeom>
        </p:spPr>
      </p:pic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三轮叉车约束方程法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1477645" y="4981575"/>
            <a:ext cx="3268980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531620" y="5766435"/>
            <a:ext cx="3268980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772920" y="6182360"/>
            <a:ext cx="2544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5"/>
                </a:solidFill>
              </a:rPr>
              <a:t>从动轮无需滚动约束</a:t>
            </a:r>
            <a:endParaRPr lang="zh-CN" altLang="en-US" sz="2000" b="1">
              <a:solidFill>
                <a:schemeClr val="accent5"/>
              </a:solidFill>
            </a:endParaRPr>
          </a:p>
        </p:txBody>
      </p:sp>
      <p:sp>
        <p:nvSpPr>
          <p:cNvPr id="30" name="右箭头 29"/>
          <p:cNvSpPr/>
          <p:nvPr/>
        </p:nvSpPr>
        <p:spPr>
          <a:xfrm>
            <a:off x="5551805" y="4827905"/>
            <a:ext cx="985520" cy="4889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7030A0"/>
                </a:solidFill>
              </a:rPr>
              <a:t>化简</a:t>
            </a:r>
            <a:endParaRPr lang="zh-CN" altLang="en-US" sz="2000" b="1">
              <a:solidFill>
                <a:srgbClr val="7030A0"/>
              </a:solidFill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" y="1006475"/>
            <a:ext cx="8477250" cy="1652905"/>
          </a:xfrm>
          <a:prstGeom prst="rect">
            <a:avLst/>
          </a:prstGeom>
        </p:spPr>
      </p:pic>
      <p:pic>
        <p:nvPicPr>
          <p:cNvPr id="5" name="图片 4" descr="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920" y="1006475"/>
            <a:ext cx="2839720" cy="2113915"/>
          </a:xfrm>
          <a:prstGeom prst="rect">
            <a:avLst/>
          </a:prstGeom>
        </p:spPr>
      </p:pic>
      <p:pic>
        <p:nvPicPr>
          <p:cNvPr id="9" name="图片 8" descr="图片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65" y="2820035"/>
            <a:ext cx="8555355" cy="1038225"/>
          </a:xfrm>
          <a:prstGeom prst="rect">
            <a:avLst/>
          </a:prstGeom>
        </p:spPr>
      </p:pic>
      <p:pic>
        <p:nvPicPr>
          <p:cNvPr id="13" name="图片 12" descr="图片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335" y="4252595"/>
            <a:ext cx="5444490" cy="1638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2310" y="4991735"/>
            <a:ext cx="662305" cy="940435"/>
          </a:xfrm>
          <a:prstGeom prst="rect">
            <a:avLst/>
          </a:prstGeom>
        </p:spPr>
      </p:pic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三轮叉车约束方程法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1777365" y="4234180"/>
            <a:ext cx="485775" cy="74422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7885" y="4439920"/>
            <a:ext cx="2384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7030A0"/>
                </a:solidFill>
              </a:rPr>
              <a:t>第三行代入前两行</a:t>
            </a:r>
            <a:endParaRPr lang="zh-CN" altLang="en-US" sz="2000" b="1">
              <a:solidFill>
                <a:srgbClr val="7030A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24985" y="2785745"/>
            <a:ext cx="2384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7030A0"/>
                </a:solidFill>
              </a:rPr>
              <a:t>cosβ(1a)-sin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β(1b)</a:t>
            </a:r>
            <a:endParaRPr lang="en-US" altLang="zh-CN" sz="2000" b="1">
              <a:solidFill>
                <a:srgbClr val="7030A0"/>
              </a:solidFill>
              <a:sym typeface="+mn-ea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4014470" y="2867660"/>
            <a:ext cx="22225" cy="3599815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4324985" y="3769995"/>
            <a:ext cx="2384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7030A0"/>
                </a:solidFill>
              </a:rPr>
              <a:t>化简得</a:t>
            </a:r>
            <a:endParaRPr lang="zh-CN" altLang="en-US" sz="2000" b="1">
              <a:solidFill>
                <a:srgbClr val="7030A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324985" y="4779645"/>
            <a:ext cx="2384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7030A0"/>
                </a:solidFill>
              </a:rPr>
              <a:t>带回</a:t>
            </a:r>
            <a:r>
              <a:rPr lang="en-US" altLang="zh-CN" sz="2000" b="1">
                <a:solidFill>
                  <a:srgbClr val="7030A0"/>
                </a:solidFill>
              </a:rPr>
              <a:t>(1b)</a:t>
            </a:r>
            <a:endParaRPr lang="en-US" altLang="zh-CN" sz="2000" b="1">
              <a:solidFill>
                <a:srgbClr val="7030A0"/>
              </a:solidFill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" y="1006475"/>
            <a:ext cx="8477250" cy="1652905"/>
          </a:xfrm>
          <a:prstGeom prst="rect">
            <a:avLst/>
          </a:prstGeom>
        </p:spPr>
      </p:pic>
      <p:pic>
        <p:nvPicPr>
          <p:cNvPr id="6" name="图片 5" descr="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920" y="1006475"/>
            <a:ext cx="2839720" cy="2113915"/>
          </a:xfrm>
          <a:prstGeom prst="rect">
            <a:avLst/>
          </a:prstGeom>
        </p:spPr>
      </p:pic>
      <p:pic>
        <p:nvPicPr>
          <p:cNvPr id="9" name="图片 8" descr="图片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85" y="3077845"/>
            <a:ext cx="3757930" cy="1130935"/>
          </a:xfrm>
          <a:prstGeom prst="rect">
            <a:avLst/>
          </a:prstGeom>
        </p:spPr>
      </p:pic>
      <p:pic>
        <p:nvPicPr>
          <p:cNvPr id="11" name="图片 10" descr="图片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5001895"/>
            <a:ext cx="2912110" cy="958215"/>
          </a:xfrm>
          <a:prstGeom prst="rect">
            <a:avLst/>
          </a:prstGeom>
        </p:spPr>
      </p:pic>
      <p:pic>
        <p:nvPicPr>
          <p:cNvPr id="15" name="图片 14" descr="图片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985" y="3154045"/>
            <a:ext cx="7694930" cy="643890"/>
          </a:xfrm>
          <a:prstGeom prst="rect">
            <a:avLst/>
          </a:prstGeom>
        </p:spPr>
      </p:pic>
      <p:pic>
        <p:nvPicPr>
          <p:cNvPr id="16" name="图片 15" descr="图片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4985" y="4078605"/>
            <a:ext cx="4987290" cy="764540"/>
          </a:xfrm>
          <a:prstGeom prst="rect">
            <a:avLst/>
          </a:prstGeom>
        </p:spPr>
      </p:pic>
      <p:pic>
        <p:nvPicPr>
          <p:cNvPr id="17" name="图片 16" descr="图片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4985" y="5150485"/>
            <a:ext cx="3302000" cy="1426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图片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8105" y="3272790"/>
            <a:ext cx="8041005" cy="1375410"/>
          </a:xfrm>
          <a:prstGeom prst="rect">
            <a:avLst/>
          </a:prstGeom>
        </p:spPr>
      </p:pic>
      <p:pic>
        <p:nvPicPr>
          <p:cNvPr id="14" name="图片 13" descr="图片11"/>
          <p:cNvPicPr>
            <a:picLocks noChangeAspect="1"/>
          </p:cNvPicPr>
          <p:nvPr/>
        </p:nvPicPr>
        <p:blipFill>
          <a:blip r:embed="rId2"/>
          <a:srcRect t="3261"/>
          <a:stretch>
            <a:fillRect/>
          </a:stretch>
        </p:blipFill>
        <p:spPr>
          <a:xfrm>
            <a:off x="510540" y="2778125"/>
            <a:ext cx="2899410" cy="3522980"/>
          </a:xfrm>
          <a:prstGeom prst="rect">
            <a:avLst/>
          </a:prstGeom>
        </p:spPr>
      </p:pic>
      <p:pic>
        <p:nvPicPr>
          <p:cNvPr id="6" name="图片 5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006475"/>
            <a:ext cx="8477250" cy="1652905"/>
          </a:xfrm>
          <a:prstGeom prst="rect">
            <a:avLst/>
          </a:prstGeom>
        </p:spPr>
      </p:pic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三轮叉车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ICR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法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1169670" y="4023995"/>
            <a:ext cx="387350" cy="54864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1425575" y="4323715"/>
            <a:ext cx="2667000" cy="4064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1132840" y="5874385"/>
            <a:ext cx="285115" cy="102235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1294130" y="4481830"/>
            <a:ext cx="5697855" cy="14071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013960" y="5531485"/>
            <a:ext cx="1978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7030A0"/>
                </a:solidFill>
              </a:rPr>
              <a:t>代入</a:t>
            </a:r>
            <a:r>
              <a:rPr lang="en-US" altLang="zh-CN" sz="2000" b="1">
                <a:solidFill>
                  <a:srgbClr val="7030A0"/>
                </a:solidFill>
              </a:rPr>
              <a:t>α=0</a:t>
            </a:r>
            <a:r>
              <a:rPr lang="zh-CN" altLang="en-US" sz="2000" b="1">
                <a:solidFill>
                  <a:srgbClr val="7030A0"/>
                </a:solidFill>
              </a:rPr>
              <a:t>，有</a:t>
            </a:r>
            <a:endParaRPr lang="zh-CN" altLang="en-US" sz="2000" b="1">
              <a:solidFill>
                <a:srgbClr val="7030A0"/>
              </a:solidFill>
            </a:endParaRPr>
          </a:p>
        </p:txBody>
      </p:sp>
      <p:pic>
        <p:nvPicPr>
          <p:cNvPr id="11" name="图片 10" descr="图片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1560" y="1006475"/>
            <a:ext cx="3356610" cy="1941830"/>
          </a:xfrm>
          <a:prstGeom prst="rect">
            <a:avLst/>
          </a:prstGeom>
        </p:spPr>
      </p:pic>
      <p:pic>
        <p:nvPicPr>
          <p:cNvPr id="16" name="图片 15" descr="图片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935" y="4883150"/>
            <a:ext cx="2288540" cy="1654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7125" y="3540760"/>
            <a:ext cx="6826250" cy="1108710"/>
          </a:xfrm>
          <a:prstGeom prst="rect">
            <a:avLst/>
          </a:prstGeom>
        </p:spPr>
      </p:pic>
      <p:pic>
        <p:nvPicPr>
          <p:cNvPr id="11" name="图片 10" descr="图片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1560" y="1006475"/>
            <a:ext cx="3356610" cy="1941830"/>
          </a:xfrm>
          <a:prstGeom prst="rect">
            <a:avLst/>
          </a:prstGeom>
        </p:spPr>
      </p:pic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006475"/>
            <a:ext cx="8477250" cy="1652905"/>
          </a:xfrm>
          <a:prstGeom prst="rect">
            <a:avLst/>
          </a:prstGeom>
        </p:spPr>
      </p:pic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三轮叉车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ICR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法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667125" y="5242560"/>
            <a:ext cx="8153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7030A0"/>
                </a:solidFill>
              </a:rPr>
              <a:t>代入</a:t>
            </a:r>
            <a:endParaRPr lang="zh-CN" altLang="en-US" sz="2000" b="1">
              <a:solidFill>
                <a:srgbClr val="7030A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51575" y="5242560"/>
            <a:ext cx="415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7030A0"/>
                </a:solidFill>
              </a:rPr>
              <a:t>得</a:t>
            </a:r>
            <a:endParaRPr lang="zh-CN" altLang="en-US" sz="2000" b="1">
              <a:solidFill>
                <a:srgbClr val="7030A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123045" y="1894840"/>
            <a:ext cx="705485" cy="72644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853045" y="2410460"/>
            <a:ext cx="1146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7030A0"/>
                </a:solidFill>
              </a:rPr>
              <a:t>逆时针</a:t>
            </a:r>
            <a:endParaRPr lang="zh-CN" altLang="en-US" sz="2400" b="1">
              <a:solidFill>
                <a:srgbClr val="7030A0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 flipH="1">
            <a:off x="3910330" y="2621280"/>
            <a:ext cx="5380990" cy="123952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图片11"/>
          <p:cNvPicPr>
            <a:picLocks noChangeAspect="1"/>
          </p:cNvPicPr>
          <p:nvPr/>
        </p:nvPicPr>
        <p:blipFill>
          <a:blip r:embed="rId4"/>
          <a:srcRect t="3261"/>
          <a:stretch>
            <a:fillRect/>
          </a:stretch>
        </p:blipFill>
        <p:spPr>
          <a:xfrm>
            <a:off x="510540" y="2778125"/>
            <a:ext cx="2899410" cy="35229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628390" y="3176270"/>
            <a:ext cx="3168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7030A0"/>
                </a:solidFill>
              </a:rPr>
              <a:t>各点绕瞬心的角速度一致：</a:t>
            </a:r>
            <a:endParaRPr lang="zh-CN" altLang="en-US" sz="2000" b="1">
              <a:solidFill>
                <a:srgbClr val="7030A0"/>
              </a:solidFill>
            </a:endParaRPr>
          </a:p>
        </p:txBody>
      </p:sp>
      <p:pic>
        <p:nvPicPr>
          <p:cNvPr id="18" name="图片 17" descr="图片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155" y="4822825"/>
            <a:ext cx="1963420" cy="1419860"/>
          </a:xfrm>
          <a:prstGeom prst="rect">
            <a:avLst/>
          </a:prstGeom>
        </p:spPr>
      </p:pic>
      <p:pic>
        <p:nvPicPr>
          <p:cNvPr id="19" name="图片 18" descr="图片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4816475"/>
            <a:ext cx="3302000" cy="1426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3475" y="2233295"/>
            <a:ext cx="6811010" cy="1848485"/>
          </a:xfrm>
          <a:prstGeom prst="rect">
            <a:avLst/>
          </a:prstGeom>
        </p:spPr>
      </p:pic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自行车约束方程法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0" y="1055688"/>
            <a:ext cx="3827780" cy="296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4741545" y="979805"/>
            <a:ext cx="7397115" cy="1339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400" b="1"/>
              <a:t>自行车是</a:t>
            </a:r>
            <a:r>
              <a:rPr lang="zh-CN" sz="2400" b="1">
                <a:solidFill>
                  <a:srgbClr val="7030A0"/>
                </a:solidFill>
              </a:rPr>
              <a:t>后轮驱动前轮转向</a:t>
            </a:r>
            <a:r>
              <a:rPr lang="zh-CN" sz="2400" b="1"/>
              <a:t>，</a:t>
            </a:r>
            <a:r>
              <a:rPr lang="zh-CN" sz="2400" b="1">
                <a:solidFill>
                  <a:srgbClr val="7030A0"/>
                </a:solidFill>
              </a:rPr>
              <a:t>机器人系坐标系原点在点</a:t>
            </a:r>
            <a:r>
              <a:rPr lang="en-US" altLang="zh-CN" sz="2400" b="1">
                <a:solidFill>
                  <a:srgbClr val="7030A0"/>
                </a:solidFill>
              </a:rPr>
              <a:t>C</a:t>
            </a:r>
            <a:r>
              <a:rPr lang="zh-CN" altLang="en-US" sz="2400" b="1">
                <a:solidFill>
                  <a:srgbClr val="7030A0"/>
                </a:solidFill>
              </a:rPr>
              <a:t>处</a:t>
            </a:r>
            <a:r>
              <a:rPr lang="zh-CN" altLang="en-US" sz="2400" b="1"/>
              <a:t>，即座椅位置</a:t>
            </a:r>
            <a:r>
              <a:rPr lang="zh-CN" sz="2400" b="1"/>
              <a:t>。后轮速度为</a:t>
            </a:r>
            <a:r>
              <a:rPr lang="en-US" altLang="zh-CN" sz="2400" b="1"/>
              <a:t>    </a:t>
            </a:r>
            <a:r>
              <a:rPr lang="zh-CN" altLang="en-US" sz="2400" b="1"/>
              <a:t>，前轮舵角为</a:t>
            </a:r>
            <a:r>
              <a:rPr lang="en-US" altLang="zh-CN" sz="2400" b="1"/>
              <a:t>δ</a:t>
            </a:r>
            <a:r>
              <a:rPr lang="zh-CN" altLang="en-US" sz="2400" b="1"/>
              <a:t>。设</a:t>
            </a:r>
            <a:r>
              <a:rPr lang="en-US" altLang="zh-CN" sz="2400" b="1"/>
              <a:t>L=lr+lf</a:t>
            </a:r>
            <a:r>
              <a:rPr lang="zh-CN" altLang="en-US" sz="2400" b="1"/>
              <a:t>。</a:t>
            </a:r>
            <a:r>
              <a:rPr lang="en-US" altLang="zh-CN" sz="2400" b="1">
                <a:sym typeface="+mn-ea"/>
              </a:rPr>
              <a:t>α</a:t>
            </a:r>
            <a:r>
              <a:rPr lang="zh-CN" altLang="en-US" sz="2400" b="1">
                <a:sym typeface="+mn-ea"/>
              </a:rPr>
              <a:t>后</a:t>
            </a:r>
            <a:r>
              <a:rPr lang="en-US" altLang="zh-CN" sz="2400" b="1">
                <a:sym typeface="+mn-ea"/>
              </a:rPr>
              <a:t>=-π</a:t>
            </a:r>
            <a:r>
              <a:rPr lang="zh-CN" altLang="en-US" sz="2400" b="1"/>
              <a:t>，</a:t>
            </a:r>
            <a:r>
              <a:rPr lang="en-US" altLang="zh-CN" sz="2400" b="1">
                <a:sym typeface="+mn-ea"/>
              </a:rPr>
              <a:t>β</a:t>
            </a:r>
            <a:r>
              <a:rPr lang="zh-CN" altLang="en-US" sz="2400" b="1">
                <a:sym typeface="+mn-ea"/>
              </a:rPr>
              <a:t>后</a:t>
            </a:r>
            <a:r>
              <a:rPr lang="en-US" altLang="zh-CN" sz="2400" b="1">
                <a:sym typeface="+mn-ea"/>
              </a:rPr>
              <a:t>=-π/2</a:t>
            </a:r>
            <a:r>
              <a:rPr lang="zh-CN" altLang="en-US" sz="2400" b="1">
                <a:sym typeface="+mn-ea"/>
              </a:rPr>
              <a:t>，</a:t>
            </a:r>
            <a:r>
              <a:rPr lang="en-US" altLang="zh-CN" sz="2400" b="1">
                <a:sym typeface="+mn-ea"/>
              </a:rPr>
              <a:t>α</a:t>
            </a:r>
            <a:r>
              <a:rPr lang="zh-CN" altLang="en-US" sz="2400" b="1">
                <a:sym typeface="+mn-ea"/>
              </a:rPr>
              <a:t>前</a:t>
            </a:r>
            <a:r>
              <a:rPr lang="en-US" altLang="zh-CN" sz="2400" b="1">
                <a:sym typeface="+mn-ea"/>
              </a:rPr>
              <a:t>=0</a:t>
            </a:r>
            <a:r>
              <a:rPr lang="zh-CN" altLang="en-US" sz="2400" b="1">
                <a:sym typeface="+mn-ea"/>
              </a:rPr>
              <a:t>，</a:t>
            </a:r>
            <a:r>
              <a:rPr lang="en-US" altLang="zh-CN" sz="2400" b="1">
                <a:sym typeface="+mn-ea"/>
              </a:rPr>
              <a:t>β</a:t>
            </a:r>
            <a:r>
              <a:rPr lang="zh-CN" altLang="en-US" sz="2400" b="1">
                <a:sym typeface="+mn-ea"/>
              </a:rPr>
              <a:t>后</a:t>
            </a:r>
            <a:r>
              <a:rPr lang="en-US" altLang="zh-CN" sz="2400" b="1">
                <a:sym typeface="+mn-ea"/>
              </a:rPr>
              <a:t>=δ+π/2</a:t>
            </a:r>
            <a:r>
              <a:rPr lang="zh-CN" altLang="en-US" sz="2400" b="1">
                <a:sym typeface="+mn-ea"/>
              </a:rPr>
              <a:t>。</a:t>
            </a:r>
            <a:endParaRPr lang="zh-CN" altLang="en-US" sz="2400" b="1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150" y="1356995"/>
            <a:ext cx="238125" cy="361950"/>
          </a:xfrm>
          <a:prstGeom prst="rect">
            <a:avLst/>
          </a:prstGeom>
        </p:spPr>
      </p:pic>
      <p:cxnSp>
        <p:nvCxnSpPr>
          <p:cNvPr id="16" name="直接连接符 15"/>
          <p:cNvCxnSpPr/>
          <p:nvPr/>
        </p:nvCxnSpPr>
        <p:spPr>
          <a:xfrm flipV="1">
            <a:off x="6251575" y="3498850"/>
            <a:ext cx="5333365" cy="508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943725" y="4081145"/>
            <a:ext cx="2623185" cy="785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5"/>
                </a:solidFill>
              </a:rPr>
              <a:t>从动轮无需滚动约束</a:t>
            </a:r>
            <a:endParaRPr lang="zh-CN" altLang="en-US" sz="2000" b="1">
              <a:solidFill>
                <a:schemeClr val="accent5"/>
              </a:solidFill>
            </a:endParaRPr>
          </a:p>
        </p:txBody>
      </p:sp>
      <p:sp>
        <p:nvSpPr>
          <p:cNvPr id="28" name="右箭头 27"/>
          <p:cNvSpPr/>
          <p:nvPr/>
        </p:nvSpPr>
        <p:spPr>
          <a:xfrm>
            <a:off x="617220" y="5154295"/>
            <a:ext cx="985520" cy="4889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化简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565900" y="5154295"/>
            <a:ext cx="985520" cy="4889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求解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pic>
        <p:nvPicPr>
          <p:cNvPr id="6" name="图片 5" descr="图片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" y="4544060"/>
            <a:ext cx="4815205" cy="1677670"/>
          </a:xfrm>
          <a:prstGeom prst="rect">
            <a:avLst/>
          </a:prstGeom>
        </p:spPr>
      </p:pic>
      <p:pic>
        <p:nvPicPr>
          <p:cNvPr id="8" name="图片 7" descr="图片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340" y="4552315"/>
            <a:ext cx="4173220" cy="1708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340" y="4767580"/>
            <a:ext cx="4173220" cy="1708150"/>
          </a:xfrm>
          <a:prstGeom prst="rect">
            <a:avLst/>
          </a:prstGeom>
        </p:spPr>
      </p:pic>
      <p:pic>
        <p:nvPicPr>
          <p:cNvPr id="15" name="图片 14" descr="图片22"/>
          <p:cNvPicPr>
            <a:picLocks noChangeAspect="1"/>
          </p:cNvPicPr>
          <p:nvPr/>
        </p:nvPicPr>
        <p:blipFill>
          <a:blip r:embed="rId2"/>
          <a:srcRect r="4443" b="8397"/>
          <a:stretch>
            <a:fillRect/>
          </a:stretch>
        </p:blipFill>
        <p:spPr>
          <a:xfrm>
            <a:off x="8236585" y="3342640"/>
            <a:ext cx="3785235" cy="1146175"/>
          </a:xfrm>
          <a:prstGeom prst="rect">
            <a:avLst/>
          </a:prstGeom>
        </p:spPr>
      </p:pic>
      <p:pic>
        <p:nvPicPr>
          <p:cNvPr id="12" name="图片 11" descr="图片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970" y="2311400"/>
            <a:ext cx="4006850" cy="752475"/>
          </a:xfrm>
          <a:prstGeom prst="rect">
            <a:avLst/>
          </a:prstGeom>
        </p:spPr>
      </p:pic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自行车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ICR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法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" y="1055688"/>
            <a:ext cx="3827780" cy="296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矩形 19"/>
          <p:cNvSpPr/>
          <p:nvPr/>
        </p:nvSpPr>
        <p:spPr>
          <a:xfrm>
            <a:off x="2059940" y="2800985"/>
            <a:ext cx="373380" cy="4533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475990" y="2313305"/>
            <a:ext cx="373380" cy="4533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 flipH="1" flipV="1">
            <a:off x="2188210" y="3254375"/>
            <a:ext cx="878205" cy="160591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endCxn id="4" idx="2"/>
          </p:cNvCxnSpPr>
          <p:nvPr/>
        </p:nvCxnSpPr>
        <p:spPr>
          <a:xfrm flipV="1">
            <a:off x="3221990" y="2766695"/>
            <a:ext cx="440690" cy="21310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712720" y="4897755"/>
            <a:ext cx="1459230" cy="512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400" b="1"/>
              <a:t>直角</a:t>
            </a:r>
            <a:endParaRPr lang="zh-CN" sz="2400" b="1"/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5454015" y="3868420"/>
            <a:ext cx="1770380" cy="718185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224905" y="4126230"/>
            <a:ext cx="3924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rgbClr val="7030A0"/>
                </a:solidFill>
                <a:sym typeface="+mn-ea"/>
              </a:rPr>
              <a:t>c</a:t>
            </a:r>
            <a:endParaRPr lang="en-US" altLang="zh-CN" sz="2400" b="1">
              <a:solidFill>
                <a:srgbClr val="7030A0"/>
              </a:solidFill>
              <a:sym typeface="+mn-ea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6343015" y="3630930"/>
            <a:ext cx="636905" cy="58547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464935" y="3379470"/>
            <a:ext cx="3924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rgbClr val="FFC000"/>
                </a:solidFill>
                <a:sym typeface="+mn-ea"/>
              </a:rPr>
              <a:t>v</a:t>
            </a:r>
            <a:endParaRPr lang="en-US" altLang="zh-CN" sz="2400" b="1">
              <a:solidFill>
                <a:srgbClr val="FFC000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617335" y="3756025"/>
            <a:ext cx="3924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chemeClr val="accent6"/>
                </a:solidFill>
                <a:sym typeface="+mn-ea"/>
              </a:rPr>
              <a:t>β</a:t>
            </a:r>
            <a:endParaRPr lang="en-US" altLang="zh-CN" sz="2400" b="1">
              <a:solidFill>
                <a:schemeClr val="accent6"/>
              </a:solidFill>
              <a:sym typeface="+mn-ea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H="1" flipV="1">
            <a:off x="5293995" y="3063875"/>
            <a:ext cx="1049020" cy="1152525"/>
          </a:xfrm>
          <a:prstGeom prst="line">
            <a:avLst/>
          </a:prstGeom>
          <a:ln w="31750" cap="rnd">
            <a:solidFill>
              <a:srgbClr val="FFC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右箭头 29"/>
          <p:cNvSpPr/>
          <p:nvPr/>
        </p:nvSpPr>
        <p:spPr>
          <a:xfrm>
            <a:off x="7154545" y="3620135"/>
            <a:ext cx="985520" cy="4889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分解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083675" y="2345055"/>
            <a:ext cx="482600" cy="61404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箭头连接符 31"/>
          <p:cNvCxnSpPr>
            <a:stCxn id="31" idx="2"/>
          </p:cNvCxnSpPr>
          <p:nvPr/>
        </p:nvCxnSpPr>
        <p:spPr>
          <a:xfrm>
            <a:off x="9324975" y="2959100"/>
            <a:ext cx="1505585" cy="299783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741545" y="979805"/>
            <a:ext cx="7397115" cy="1339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400" b="1"/>
              <a:t>自行车是</a:t>
            </a:r>
            <a:r>
              <a:rPr lang="zh-CN" sz="2400" b="1">
                <a:solidFill>
                  <a:srgbClr val="7030A0"/>
                </a:solidFill>
              </a:rPr>
              <a:t>后轮驱动前轮转向</a:t>
            </a:r>
            <a:r>
              <a:rPr lang="zh-CN" sz="2400" b="1"/>
              <a:t>，</a:t>
            </a:r>
            <a:r>
              <a:rPr lang="zh-CN" sz="2400" b="1">
                <a:solidFill>
                  <a:srgbClr val="7030A0"/>
                </a:solidFill>
              </a:rPr>
              <a:t>机器人系坐标系原点在点</a:t>
            </a:r>
            <a:r>
              <a:rPr lang="en-US" altLang="zh-CN" sz="2400" b="1">
                <a:solidFill>
                  <a:srgbClr val="7030A0"/>
                </a:solidFill>
              </a:rPr>
              <a:t>C</a:t>
            </a:r>
            <a:r>
              <a:rPr lang="zh-CN" altLang="en-US" sz="2400" b="1">
                <a:solidFill>
                  <a:srgbClr val="7030A0"/>
                </a:solidFill>
              </a:rPr>
              <a:t>处</a:t>
            </a:r>
            <a:r>
              <a:rPr lang="zh-CN" altLang="en-US" sz="2400" b="1"/>
              <a:t>，即座椅位置</a:t>
            </a:r>
            <a:r>
              <a:rPr lang="zh-CN" sz="2400" b="1"/>
              <a:t>。后轮速度为</a:t>
            </a:r>
            <a:r>
              <a:rPr lang="en-US" altLang="zh-CN" sz="2400" b="1"/>
              <a:t>    </a:t>
            </a:r>
            <a:r>
              <a:rPr lang="zh-CN" altLang="en-US" sz="2400" b="1"/>
              <a:t>，前轮舵角为</a:t>
            </a:r>
            <a:r>
              <a:rPr lang="en-US" altLang="zh-CN" sz="2400" b="1"/>
              <a:t>δ</a:t>
            </a:r>
            <a:r>
              <a:rPr lang="zh-CN" altLang="en-US" sz="2400" b="1"/>
              <a:t>。设</a:t>
            </a:r>
            <a:r>
              <a:rPr lang="en-US" altLang="zh-CN" sz="2400" b="1"/>
              <a:t>L=lr+lf</a:t>
            </a:r>
            <a:r>
              <a:rPr lang="zh-CN" altLang="en-US" sz="2400" b="1"/>
              <a:t>。</a:t>
            </a:r>
            <a:r>
              <a:rPr lang="en-US" altLang="zh-CN" sz="2400" b="1">
                <a:sym typeface="+mn-ea"/>
              </a:rPr>
              <a:t>α</a:t>
            </a:r>
            <a:r>
              <a:rPr lang="zh-CN" altLang="en-US" sz="2400" b="1">
                <a:sym typeface="+mn-ea"/>
              </a:rPr>
              <a:t>后</a:t>
            </a:r>
            <a:r>
              <a:rPr lang="en-US" altLang="zh-CN" sz="2400" b="1">
                <a:sym typeface="+mn-ea"/>
              </a:rPr>
              <a:t>=-π</a:t>
            </a:r>
            <a:r>
              <a:rPr lang="zh-CN" altLang="en-US" sz="2400" b="1"/>
              <a:t>，</a:t>
            </a:r>
            <a:r>
              <a:rPr lang="en-US" altLang="zh-CN" sz="2400" b="1">
                <a:sym typeface="+mn-ea"/>
              </a:rPr>
              <a:t>β</a:t>
            </a:r>
            <a:r>
              <a:rPr lang="zh-CN" altLang="en-US" sz="2400" b="1">
                <a:sym typeface="+mn-ea"/>
              </a:rPr>
              <a:t>后</a:t>
            </a:r>
            <a:r>
              <a:rPr lang="en-US" altLang="zh-CN" sz="2400" b="1">
                <a:sym typeface="+mn-ea"/>
              </a:rPr>
              <a:t>=-π/2</a:t>
            </a:r>
            <a:r>
              <a:rPr lang="zh-CN" altLang="en-US" sz="2400" b="1">
                <a:sym typeface="+mn-ea"/>
              </a:rPr>
              <a:t>，</a:t>
            </a:r>
            <a:r>
              <a:rPr lang="en-US" altLang="zh-CN" sz="2400" b="1">
                <a:sym typeface="+mn-ea"/>
              </a:rPr>
              <a:t>α</a:t>
            </a:r>
            <a:r>
              <a:rPr lang="zh-CN" altLang="en-US" sz="2400" b="1">
                <a:sym typeface="+mn-ea"/>
              </a:rPr>
              <a:t>前</a:t>
            </a:r>
            <a:r>
              <a:rPr lang="en-US" altLang="zh-CN" sz="2400" b="1">
                <a:sym typeface="+mn-ea"/>
              </a:rPr>
              <a:t>=0</a:t>
            </a:r>
            <a:r>
              <a:rPr lang="zh-CN" altLang="en-US" sz="2400" b="1">
                <a:sym typeface="+mn-ea"/>
              </a:rPr>
              <a:t>，</a:t>
            </a:r>
            <a:r>
              <a:rPr lang="en-US" altLang="zh-CN" sz="2400" b="1">
                <a:sym typeface="+mn-ea"/>
              </a:rPr>
              <a:t>β</a:t>
            </a:r>
            <a:r>
              <a:rPr lang="zh-CN" altLang="en-US" sz="2400" b="1">
                <a:sym typeface="+mn-ea"/>
              </a:rPr>
              <a:t>后</a:t>
            </a:r>
            <a:r>
              <a:rPr lang="en-US" altLang="zh-CN" sz="2400" b="1">
                <a:sym typeface="+mn-ea"/>
              </a:rPr>
              <a:t>=δ+π/2</a:t>
            </a:r>
            <a:r>
              <a:rPr lang="zh-CN" altLang="en-US" sz="2400" b="1">
                <a:sym typeface="+mn-ea"/>
              </a:rPr>
              <a:t>。</a:t>
            </a:r>
            <a:endParaRPr lang="zh-CN" altLang="en-US" sz="2400" b="1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8150" y="1356995"/>
            <a:ext cx="238125" cy="3619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846320" y="2463165"/>
            <a:ext cx="3168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7030A0"/>
                </a:solidFill>
              </a:rPr>
              <a:t>各点绕瞬心的角速度一致：</a:t>
            </a:r>
            <a:endParaRPr lang="zh-CN" altLang="en-US" sz="2000" b="1">
              <a:solidFill>
                <a:srgbClr val="7030A0"/>
              </a:solidFill>
            </a:endParaRPr>
          </a:p>
        </p:txBody>
      </p:sp>
      <p:pic>
        <p:nvPicPr>
          <p:cNvPr id="8" name="图片 7" descr="图片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465" y="5307330"/>
            <a:ext cx="6862445" cy="998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</Words>
  <Application>WPS 演示</Application>
  <PresentationFormat>宽屏</PresentationFormat>
  <Paragraphs>79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MS PGothic</vt:lpstr>
      <vt:lpstr>Wingdings 2</vt:lpstr>
      <vt:lpstr>华文新魏</vt:lpstr>
      <vt:lpstr>微软雅黑</vt:lpstr>
      <vt:lpstr>华文细黑</vt:lpstr>
      <vt:lpstr>Calibri</vt:lpstr>
      <vt:lpstr>Courier New</vt:lpstr>
      <vt:lpstr>Cambria Math</vt:lpstr>
      <vt:lpstr>Arial Unicode MS</vt:lpstr>
      <vt:lpstr>等线</vt:lpstr>
      <vt:lpstr>Calibri Light</vt:lpstr>
      <vt:lpstr>WPS</vt:lpstr>
      <vt:lpstr>HDOfficeLightV0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张恒硕</cp:lastModifiedBy>
  <cp:revision>52</cp:revision>
  <dcterms:created xsi:type="dcterms:W3CDTF">2023-08-09T12:44:00Z</dcterms:created>
  <dcterms:modified xsi:type="dcterms:W3CDTF">2026-08-07T08:25:11Z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EDF57CE02EBF45F5A66F9CBC3FEBCFB3_12</vt:lpwstr>
  </property>
</Properties>
</file>